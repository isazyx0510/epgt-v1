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0388665f144640" /><Relationship Type="http://schemas.openxmlformats.org/officeDocument/2006/relationships/extended-properties" Target="/docProps/app.xml" Id="Rbe6191e53aa146ed" /><Relationship Type="http://schemas.openxmlformats.org/officeDocument/2006/relationships/officeDocument" Target="/ppt/presentation.xml" Id="R24b025e3fcd248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46c531b44344e5"/>
  </p:sldMasterIdLst>
  <p:notesMasterIdLst>
    <p:notesMasterId xmlns:r="http://schemas.openxmlformats.org/officeDocument/2006/relationships" r:id="R194cb45556764b9d"/>
  </p:notesMasterIdLst>
  <p:sldIdLst>
    <p:sldId xmlns:r="http://schemas.openxmlformats.org/officeDocument/2006/relationships" id="256" r:id="R45887e663fcc46d1"/>
    <p:sldId xmlns:r="http://schemas.openxmlformats.org/officeDocument/2006/relationships" id="257" r:id="R909b2fef95cb4262"/>
    <p:sldId xmlns:r="http://schemas.openxmlformats.org/officeDocument/2006/relationships" id="258" r:id="Ra59467829b324945"/>
    <p:sldId xmlns:r="http://schemas.openxmlformats.org/officeDocument/2006/relationships" id="259" r:id="Rb838e4d7124d4e28"/>
    <p:sldId xmlns:r="http://schemas.openxmlformats.org/officeDocument/2006/relationships" id="260" r:id="R66935cc901fb4b6d"/>
    <p:sldId xmlns:r="http://schemas.openxmlformats.org/officeDocument/2006/relationships" id="261" r:id="R6c78cc0ba171463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6c531b44344e5" /><Relationship Type="http://schemas.openxmlformats.org/officeDocument/2006/relationships/theme" Target="/ppt/theme/theme1.xml" Id="R9ee0ab9ce368429b" /><Relationship Type="http://schemas.openxmlformats.org/officeDocument/2006/relationships/notesMaster" Target="/ppt/notesMasters/notesMaster1.xml" Id="R194cb45556764b9d" /><Relationship Type="http://schemas.openxmlformats.org/officeDocument/2006/relationships/presProps" Target="/ppt/presProps.xml" Id="R32ed3574fe9c4b4c" /><Relationship Type="http://schemas.openxmlformats.org/officeDocument/2006/relationships/viewProps" Target="/ppt/viewProps.xml" Id="R44b5865ca35a4551" /><Relationship Type="http://schemas.openxmlformats.org/officeDocument/2006/relationships/tableStyles" Target="/ppt/tableStyles.xml" Id="R281d4f032c424a60" /><Relationship Type="http://schemas.openxmlformats.org/officeDocument/2006/relationships/slide" Target="/ppt/slides/slide1.xml" Id="R45887e663fcc46d1" /><Relationship Type="http://schemas.openxmlformats.org/officeDocument/2006/relationships/slide" Target="/ppt/slides/slide2.xml" Id="R909b2fef95cb4262" /><Relationship Type="http://schemas.openxmlformats.org/officeDocument/2006/relationships/slide" Target="/ppt/slides/slide3.xml" Id="Ra59467829b324945" /><Relationship Type="http://schemas.openxmlformats.org/officeDocument/2006/relationships/slide" Target="/ppt/slides/slide4.xml" Id="Rb838e4d7124d4e28" /><Relationship Type="http://schemas.openxmlformats.org/officeDocument/2006/relationships/slide" Target="/ppt/slides/slide5.xml" Id="R66935cc901fb4b6d" /><Relationship Type="http://schemas.openxmlformats.org/officeDocument/2006/relationships/slide" Target="/ppt/slides/slide6.xml" Id="R6c78cc0ba171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c909e3cb5c43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d29cef721a448a" /><Relationship Type="http://schemas.openxmlformats.org/officeDocument/2006/relationships/notesMaster" Target="/ppt/notesMasters/notesMaster1.xml" Id="R3a6c58e15dab4e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a393b2b7fd4a0c" /><Relationship Type="http://schemas.openxmlformats.org/officeDocument/2006/relationships/notesMaster" Target="/ppt/notesMasters/notesMaster1.xml" Id="R4acfc9c45ea6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b8e4efeace4311" /><Relationship Type="http://schemas.openxmlformats.org/officeDocument/2006/relationships/notesMaster" Target="/ppt/notesMasters/notesMaster1.xml" Id="R297ae48e8a514b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25e84d10be4faf" /><Relationship Type="http://schemas.openxmlformats.org/officeDocument/2006/relationships/notesMaster" Target="/ppt/notesMasters/notesMaster1.xml" Id="R646cacc0fb134d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e3bfe3378d468f" /><Relationship Type="http://schemas.openxmlformats.org/officeDocument/2006/relationships/notesMaster" Target="/ppt/notesMasters/notesMaster1.xml" Id="R013e80532d1f4c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21de94783748d4" /><Relationship Type="http://schemas.openxmlformats.org/officeDocument/2006/relationships/notesMaster" Target="/ppt/notesMasters/notesMaster1.xml" Id="Rdd7990a774c6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86f1af91d4b1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e20869eae9841e9" /><Relationship Type="http://schemas.openxmlformats.org/officeDocument/2006/relationships/slideLayout" Target="/ppt/slideLayouts/slideLayout2.xml" Id="R82dbc0a387e5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dbc0a387e5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960fe01e3941dc" /><Relationship Type="http://schemas.openxmlformats.org/officeDocument/2006/relationships/notesSlide" Target="/ppt/notesSlides/notesSlide1.xml" Id="Raf4918893f8047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a4619a9e1c4500" /><Relationship Type="http://schemas.openxmlformats.org/officeDocument/2006/relationships/notesSlide" Target="/ppt/notesSlides/notesSlide2.xml" Id="R9daf32c43ee849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16e2e441a644bd" /><Relationship Type="http://schemas.openxmlformats.org/officeDocument/2006/relationships/notesSlide" Target="/ppt/notesSlides/notesSlide3.xml" Id="R748ab79cdb8448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0a126e30024263" /><Relationship Type="http://schemas.openxmlformats.org/officeDocument/2006/relationships/notesSlide" Target="/ppt/notesSlides/notesSlide4.xml" Id="R8918a89795fd45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19424679e4333" /><Relationship Type="http://schemas.openxmlformats.org/officeDocument/2006/relationships/notesSlide" Target="/ppt/notesSlides/notesSlide5.xml" Id="R2d0e5b99e7ee47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5738aacf854e43" /><Relationship Type="http://schemas.openxmlformats.org/officeDocument/2006/relationships/notesSlide" Target="/ppt/notesSlides/notesSlide6.xml" Id="Rc34e6225110e4b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oot">
            <a:extLst xmlns:a="http://schemas.openxmlformats.org/drawingml/2006/main">
              <a:ext uri="{FF2B5EF4-FFF2-40B4-BE49-F238E27FC236}">
                <a16:creationId xmlns:a16="http://schemas.microsoft.com/office/drawing/2014/main" id="{C841F5EB-5ED6-4DF7-9ECA-E04B4AC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</p:sp>
      <p:sp>
        <p:nvSpPr>
          <p:cNvPr id="2" name="chip-MIMO-OFDM">
            <a:extLst xmlns:a="http://schemas.openxmlformats.org/drawingml/2006/main">
              <a:ext uri="{FF2B5EF4-FFF2-40B4-BE49-F238E27FC236}">
                <a16:creationId xmlns:a16="http://schemas.microsoft.com/office/drawing/2014/main" id="{CD01089E-0BA9-4C66-BBE6-0F76397E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90600"/>
            <a:ext cx="1600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F2"/>
          </a:solidFill>
          <a:ln xmlns:a="http://schemas.openxmlformats.org/drawingml/2006/main" w="9525">
            <a:solidFill>
              <a:srgbClr val="159A9C"/>
            </a:solidFill>
            <a:prstDash val="solid"/>
          </a:ln>
        </p:spPr>
      </p:sp>
      <p:sp>
        <p:nvSpPr>
          <p:cNvPr id="3" name="chip-text-MIMO-OFDM">
            <a:extLst xmlns:a="http://schemas.openxmlformats.org/drawingml/2006/main">
              <a:ext uri="{FF2B5EF4-FFF2-40B4-BE49-F238E27FC236}">
                <a16:creationId xmlns:a16="http://schemas.microsoft.com/office/drawing/2014/main" id="{E73C7B5D-4626-43E1-AAF5-E22E778E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04900"/>
            <a:ext cx="1371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MIMO-OFDM</a:t>
            </a:r>
          </a:p>
        </p:txBody>
      </p:sp>
      <p:sp>
        <p:nvSpPr>
          <p:cNvPr id="4" name="chip-Physics-Guided Attention">
            <a:extLst xmlns:a="http://schemas.openxmlformats.org/drawingml/2006/main">
              <a:ext uri="{FF2B5EF4-FFF2-40B4-BE49-F238E27FC236}">
                <a16:creationId xmlns:a16="http://schemas.microsoft.com/office/drawing/2014/main" id="{739465E1-952C-49C9-8E57-685C747B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990600"/>
            <a:ext cx="2857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8FF"/>
          </a:solidFill>
          <a:ln xmlns:a="http://schemas.openxmlformats.org/drawingml/2006/main" w="9525">
            <a:solidFill>
              <a:srgbClr val="2A6FDB"/>
            </a:solidFill>
            <a:prstDash val="solid"/>
          </a:ln>
        </p:spPr>
      </p:sp>
      <p:sp>
        <p:nvSpPr>
          <p:cNvPr id="5" name="chip-text-Physics-Guided Attention">
            <a:extLst xmlns:a="http://schemas.openxmlformats.org/drawingml/2006/main">
              <a:ext uri="{FF2B5EF4-FFF2-40B4-BE49-F238E27FC236}">
                <a16:creationId xmlns:a16="http://schemas.microsoft.com/office/drawing/2014/main" id="{9B2249A1-5C21-4142-9F44-9571E63D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104900"/>
            <a:ext cx="2628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FDB"/>
                </a:solidFill>
              </a:defRPr>
            </a:pPr>
            <a:r>
              <a:rPr sz="1125" b="1">
                <a:solidFill>
                  <a:srgbClr val="2A6FDB"/>
                </a:solidFill>
              </a:rPr>
              <a:t>Physics-Guided Attention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45B8D1A-EE1C-4FF3-AB6C-D7580002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16002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02033"/>
                </a:solidFill>
              </a:defRPr>
            </a:pPr>
            <a:r>
              <a:rPr sz="6450" b="1">
                <a:solidFill>
                  <a:srgbClr val="102033"/>
                </a:solidFill>
              </a:rPr>
              <a:t>EPGT-v1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85187DA-4479-42C5-B35E-4604ECD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4191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Physics-Guided Transformer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850" b="1">
                <a:solidFill>
                  <a:srgbClr val="102033"/>
                </a:solidFill>
              </a:defRPr>
            </a:pPr>
            <a:r>
              <a:rPr sz="2850" b="1">
                <a:solidFill>
                  <a:srgbClr val="102033"/>
                </a:solidFill>
              </a:rPr>
              <a:t>网络架构与张量维度说明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5E42F228-BE8C-4BA1-9623-832715E0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9C"/>
          </a:solidFill>
          <a:ln xmlns:a="http://schemas.openxmlformats.org/drawingml/2006/main" w="0">
            <a:solidFill>
              <a:srgbClr val="159A9C"/>
            </a:solidFill>
            <a:prstDash val="solid"/>
          </a:ln>
        </p:spPr>
      </p:sp>
      <p:sp>
        <p:nvSpPr>
          <p:cNvPr id="9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837C9779-15E1-4042-9515-7775C66C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277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025">
                <a:solidFill>
                  <a:srgbClr val="53657A"/>
                </a:solidFill>
              </a:defRPr>
            </a:pPr>
            <a:r>
              <a:rPr sz="2025">
                <a:solidFill>
                  <a:srgbClr val="53657A"/>
                </a:solidFill>
              </a:rPr>
              <a:t>从稀疏观测 token 预测 effective-path 物理结构，再用 Gamma(q,i) 引导 full-grid query 读取最相关的观测点。</a:t>
            </a:r>
          </a:p>
        </p:txBody>
      </p:sp>
    </p:spTree>
    <p:extLst>
      <p:ext uri="{BB962C8B-B14F-4D97-AF65-F5344CB8AC3E}">
        <p14:creationId xmlns:p14="http://schemas.microsoft.com/office/powerpoint/2010/main" val="12072056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-bg">
            <a:extLst xmlns:a="http://schemas.openxmlformats.org/drawingml/2006/main">
              <a:ext uri="{FF2B5EF4-FFF2-40B4-BE49-F238E27FC236}">
                <a16:creationId xmlns:a16="http://schemas.microsoft.com/office/drawing/2014/main" id="{A51E546D-BF56-4B22-B5DE-FFDA684C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B41A21-4E27-416E-A6A4-B712B6BF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16725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033"/>
                </a:solidFill>
              </a:defRPr>
            </a:pPr>
            <a:r>
              <a:rPr sz="3450" b="1">
                <a:solidFill>
                  <a:srgbClr val="102033"/>
                </a:solidFill>
              </a:rPr>
              <a:t>维度字典：物理维度 + 网络维度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82B6A22-07E2-490E-B401-4D83473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81100"/>
            <a:ext cx="9334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53657A"/>
                </a:solidFill>
              </a:defRPr>
            </a:pPr>
            <a:r>
              <a:rPr sz="1725">
                <a:solidFill>
                  <a:srgbClr val="53657A"/>
                </a:solidFill>
              </a:rPr>
              <a:t>EPGT 的图里必须同时标清信道张量维度、token 数量，以及 cross-attention 的 query/context 维度。</a:t>
            </a:r>
          </a:p>
        </p:txBody>
      </p:sp>
      <p:sp>
        <p:nvSpPr>
          <p:cNvPr id="4" name="dim-card-B">
            <a:extLst xmlns:a="http://schemas.openxmlformats.org/drawingml/2006/main">
              <a:ext uri="{FF2B5EF4-FFF2-40B4-BE49-F238E27FC236}">
                <a16:creationId xmlns:a16="http://schemas.microsoft.com/office/drawing/2014/main" id="{A337E5E6-3761-4A07-BD41-BBB900B0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9773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5" name="dim-symbol-B">
            <a:extLst xmlns:a="http://schemas.openxmlformats.org/drawingml/2006/main">
              <a:ext uri="{FF2B5EF4-FFF2-40B4-BE49-F238E27FC236}">
                <a16:creationId xmlns:a16="http://schemas.microsoft.com/office/drawing/2014/main" id="{E0D4BA43-1622-4DC7-BFD5-F94B85B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6FDB"/>
                </a:solidFill>
              </a:defRPr>
            </a:pPr>
            <a:r>
              <a:rPr sz="2700" b="1">
                <a:solidFill>
                  <a:srgbClr val="2A6FDB"/>
                </a:solidFill>
              </a:rPr>
              <a:t>B</a:t>
            </a:r>
          </a:p>
        </p:txBody>
      </p:sp>
      <p:sp>
        <p:nvSpPr>
          <p:cNvPr id="6" name="dim-en-B">
            <a:extLst xmlns:a="http://schemas.openxmlformats.org/drawingml/2006/main">
              <a:ext uri="{FF2B5EF4-FFF2-40B4-BE49-F238E27FC236}">
                <a16:creationId xmlns:a16="http://schemas.microsoft.com/office/drawing/2014/main" id="{D2EB14A6-2055-4E68-82D1-4DE9AD6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0030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batch size</a:t>
            </a:r>
          </a:p>
        </p:txBody>
      </p:sp>
      <p:sp>
        <p:nvSpPr>
          <p:cNvPr id="7" name="dim-cn-B">
            <a:extLst xmlns:a="http://schemas.openxmlformats.org/drawingml/2006/main">
              <a:ext uri="{FF2B5EF4-FFF2-40B4-BE49-F238E27FC236}">
                <a16:creationId xmlns:a16="http://schemas.microsoft.com/office/drawing/2014/main" id="{2B5D7675-4800-4018-852E-C138810E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2890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训练/评估批量</a:t>
            </a:r>
          </a:p>
        </p:txBody>
      </p:sp>
      <p:sp>
        <p:nvSpPr>
          <p:cNvPr id="8" name="dim-card-N">
            <a:extLst xmlns:a="http://schemas.openxmlformats.org/drawingml/2006/main">
              <a:ext uri="{FF2B5EF4-FFF2-40B4-BE49-F238E27FC236}">
                <a16:creationId xmlns:a16="http://schemas.microsoft.com/office/drawing/2014/main" id="{91046DDC-5C90-4926-9D7D-D4B542A6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989773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9" name="dim-symbol-N">
            <a:extLst xmlns:a="http://schemas.openxmlformats.org/drawingml/2006/main">
              <a:ext uri="{FF2B5EF4-FFF2-40B4-BE49-F238E27FC236}">
                <a16:creationId xmlns:a16="http://schemas.microsoft.com/office/drawing/2014/main" id="{E351EDCA-030E-49C6-9539-D5147C47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3840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6FDB"/>
                </a:solidFill>
              </a:defRPr>
            </a:pPr>
            <a:r>
              <a:rPr sz="2700" b="1">
                <a:solidFill>
                  <a:srgbClr val="2A6FDB"/>
                </a:solidFill>
              </a:rPr>
              <a:t>N</a:t>
            </a:r>
          </a:p>
        </p:txBody>
      </p:sp>
      <p:sp>
        <p:nvSpPr>
          <p:cNvPr id="10" name="dim-en-N">
            <a:extLst xmlns:a="http://schemas.openxmlformats.org/drawingml/2006/main">
              <a:ext uri="{FF2B5EF4-FFF2-40B4-BE49-F238E27FC236}">
                <a16:creationId xmlns:a16="http://schemas.microsoft.com/office/drawing/2014/main" id="{DDBF2EF7-CEA1-4E38-956B-E1871725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0030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time points</a:t>
            </a:r>
          </a:p>
        </p:txBody>
      </p:sp>
      <p:sp>
        <p:nvSpPr>
          <p:cNvPr id="11" name="dim-cn-N">
            <a:extLst xmlns:a="http://schemas.openxmlformats.org/drawingml/2006/main">
              <a:ext uri="{FF2B5EF4-FFF2-40B4-BE49-F238E27FC236}">
                <a16:creationId xmlns:a16="http://schemas.microsoft.com/office/drawing/2014/main" id="{3E04F7C3-8B26-48F5-9448-43AFE083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OFDM symbol 数</a:t>
            </a:r>
          </a:p>
        </p:txBody>
      </p:sp>
      <p:sp>
        <p:nvSpPr>
          <p:cNvPr id="12" name="dim-card-K">
            <a:extLst xmlns:a="http://schemas.openxmlformats.org/drawingml/2006/main">
              <a:ext uri="{FF2B5EF4-FFF2-40B4-BE49-F238E27FC236}">
                <a16:creationId xmlns:a16="http://schemas.microsoft.com/office/drawing/2014/main" id="{6D589725-E6AD-4580-9131-427C9B58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1989773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3" name="dim-symbol-K">
            <a:extLst xmlns:a="http://schemas.openxmlformats.org/drawingml/2006/main">
              <a:ext uri="{FF2B5EF4-FFF2-40B4-BE49-F238E27FC236}">
                <a16:creationId xmlns:a16="http://schemas.microsoft.com/office/drawing/2014/main" id="{8290D0C7-36A6-42D4-BB2E-EB1EAB9C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3840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6FDB"/>
                </a:solidFill>
              </a:defRPr>
            </a:pPr>
            <a:r>
              <a:rPr sz="2700" b="1">
                <a:solidFill>
                  <a:srgbClr val="2A6FDB"/>
                </a:solidFill>
              </a:rPr>
              <a:t>K</a:t>
            </a:r>
          </a:p>
        </p:txBody>
      </p:sp>
      <p:sp>
        <p:nvSpPr>
          <p:cNvPr id="14" name="dim-en-K">
            <a:extLst xmlns:a="http://schemas.openxmlformats.org/drawingml/2006/main">
              <a:ext uri="{FF2B5EF4-FFF2-40B4-BE49-F238E27FC236}">
                <a16:creationId xmlns:a16="http://schemas.microsoft.com/office/drawing/2014/main" id="{9512321F-4ECD-47E2-BF34-72DD5306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40030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subcarriers</a:t>
            </a:r>
          </a:p>
        </p:txBody>
      </p:sp>
      <p:sp>
        <p:nvSpPr>
          <p:cNvPr id="15" name="dim-cn-K">
            <a:extLst xmlns:a="http://schemas.openxmlformats.org/drawingml/2006/main">
              <a:ext uri="{FF2B5EF4-FFF2-40B4-BE49-F238E27FC236}">
                <a16:creationId xmlns:a16="http://schemas.microsoft.com/office/drawing/2014/main" id="{852DB96E-C991-4B03-AA24-7FBD8BC0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262890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载频 / 子载波数</a:t>
            </a:r>
          </a:p>
        </p:txBody>
      </p:sp>
      <p:sp>
        <p:nvSpPr>
          <p:cNvPr id="16" name="dim-card-Nr">
            <a:extLst xmlns:a="http://schemas.openxmlformats.org/drawingml/2006/main">
              <a:ext uri="{FF2B5EF4-FFF2-40B4-BE49-F238E27FC236}">
                <a16:creationId xmlns:a16="http://schemas.microsoft.com/office/drawing/2014/main" id="{9AC91910-8E7A-4062-9335-4B3C1540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5890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7" name="dim-symbol-Nr">
            <a:extLst xmlns:a="http://schemas.openxmlformats.org/drawingml/2006/main">
              <a:ext uri="{FF2B5EF4-FFF2-40B4-BE49-F238E27FC236}">
                <a16:creationId xmlns:a16="http://schemas.microsoft.com/office/drawing/2014/main" id="{8118E0AC-F8A4-4611-8DE3-05885E16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6FDB"/>
                </a:solidFill>
              </a:defRPr>
            </a:pPr>
            <a:r>
              <a:rPr sz="2700" b="1">
                <a:solidFill>
                  <a:srgbClr val="2A6FDB"/>
                </a:solidFill>
              </a:rPr>
              <a:t>Nr</a:t>
            </a:r>
          </a:p>
        </p:txBody>
      </p:sp>
      <p:sp>
        <p:nvSpPr>
          <p:cNvPr id="18" name="dim-en-Nr">
            <a:extLst xmlns:a="http://schemas.openxmlformats.org/drawingml/2006/main">
              <a:ext uri="{FF2B5EF4-FFF2-40B4-BE49-F238E27FC236}">
                <a16:creationId xmlns:a16="http://schemas.microsoft.com/office/drawing/2014/main" id="{BC1CF331-1DCE-419C-9BE2-B4854780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36245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RX antennas</a:t>
            </a:r>
          </a:p>
        </p:txBody>
      </p:sp>
      <p:sp>
        <p:nvSpPr>
          <p:cNvPr id="19" name="dim-cn-Nr">
            <a:extLst xmlns:a="http://schemas.openxmlformats.org/drawingml/2006/main">
              <a:ext uri="{FF2B5EF4-FFF2-40B4-BE49-F238E27FC236}">
                <a16:creationId xmlns:a16="http://schemas.microsoft.com/office/drawing/2014/main" id="{03DFC7F5-CD16-4FED-BB90-3012C393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接收天线数</a:t>
            </a:r>
          </a:p>
        </p:txBody>
      </p:sp>
      <p:sp>
        <p:nvSpPr>
          <p:cNvPr id="20" name="dim-card-Ns">
            <a:extLst xmlns:a="http://schemas.openxmlformats.org/drawingml/2006/main">
              <a:ext uri="{FF2B5EF4-FFF2-40B4-BE49-F238E27FC236}">
                <a16:creationId xmlns:a16="http://schemas.microsoft.com/office/drawing/2014/main" id="{51104BE0-4EAA-45D1-95B3-7F50D7BB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945890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1" name="dim-symbol-Ns">
            <a:extLst xmlns:a="http://schemas.openxmlformats.org/drawingml/2006/main">
              <a:ext uri="{FF2B5EF4-FFF2-40B4-BE49-F238E27FC236}">
                <a16:creationId xmlns:a16="http://schemas.microsoft.com/office/drawing/2014/main" id="{7BB27762-B3BC-4C48-AA07-27D2A13C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6FDB"/>
                </a:solidFill>
              </a:defRPr>
            </a:pPr>
            <a:r>
              <a:rPr sz="2700" b="1">
                <a:solidFill>
                  <a:srgbClr val="2A6FDB"/>
                </a:solidFill>
              </a:rPr>
              <a:t>Ns</a:t>
            </a:r>
          </a:p>
        </p:txBody>
      </p:sp>
      <p:sp>
        <p:nvSpPr>
          <p:cNvPr id="22" name="dim-en-Ns">
            <a:extLst xmlns:a="http://schemas.openxmlformats.org/drawingml/2006/main">
              <a:ext uri="{FF2B5EF4-FFF2-40B4-BE49-F238E27FC236}">
                <a16:creationId xmlns:a16="http://schemas.microsoft.com/office/drawing/2014/main" id="{71963E36-4FE4-4D0D-8C32-6CA3F30C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6245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TX antennas</a:t>
            </a:r>
          </a:p>
        </p:txBody>
      </p:sp>
      <p:sp>
        <p:nvSpPr>
          <p:cNvPr id="23" name="dim-cn-Ns">
            <a:extLst xmlns:a="http://schemas.openxmlformats.org/drawingml/2006/main">
              <a:ext uri="{FF2B5EF4-FFF2-40B4-BE49-F238E27FC236}">
                <a16:creationId xmlns:a16="http://schemas.microsoft.com/office/drawing/2014/main" id="{8E17278F-F248-4385-8043-9FF8E218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9105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发送天线数</a:t>
            </a:r>
          </a:p>
        </p:txBody>
      </p:sp>
      <p:sp>
        <p:nvSpPr>
          <p:cNvPr id="24" name="dim-card-Leff">
            <a:extLst xmlns:a="http://schemas.openxmlformats.org/drawingml/2006/main">
              <a:ext uri="{FF2B5EF4-FFF2-40B4-BE49-F238E27FC236}">
                <a16:creationId xmlns:a16="http://schemas.microsoft.com/office/drawing/2014/main" id="{489AA98C-CC42-4FB2-BF5C-41A01A11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3945890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5" name="dim-symbol-Leff">
            <a:extLst xmlns:a="http://schemas.openxmlformats.org/drawingml/2006/main">
              <a:ext uri="{FF2B5EF4-FFF2-40B4-BE49-F238E27FC236}">
                <a16:creationId xmlns:a16="http://schemas.microsoft.com/office/drawing/2014/main" id="{771CB197-475C-4F5B-A239-3D763808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0055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6FDB"/>
                </a:solidFill>
              </a:defRPr>
            </a:pPr>
            <a:r>
              <a:rPr sz="2700" b="1">
                <a:solidFill>
                  <a:srgbClr val="2A6FDB"/>
                </a:solidFill>
              </a:rPr>
              <a:t>Leff</a:t>
            </a:r>
          </a:p>
        </p:txBody>
      </p:sp>
      <p:sp>
        <p:nvSpPr>
          <p:cNvPr id="26" name="dim-en-Leff">
            <a:extLst xmlns:a="http://schemas.openxmlformats.org/drawingml/2006/main">
              <a:ext uri="{FF2B5EF4-FFF2-40B4-BE49-F238E27FC236}">
                <a16:creationId xmlns:a16="http://schemas.microsoft.com/office/drawing/2014/main" id="{F38890EA-3F10-4534-9F47-82162BED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36245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effective paths</a:t>
            </a:r>
          </a:p>
        </p:txBody>
      </p:sp>
      <p:sp>
        <p:nvSpPr>
          <p:cNvPr id="27" name="dim-cn-Leff">
            <a:extLst xmlns:a="http://schemas.openxmlformats.org/drawingml/2006/main">
              <a:ext uri="{FF2B5EF4-FFF2-40B4-BE49-F238E27FC236}">
                <a16:creationId xmlns:a16="http://schemas.microsoft.com/office/drawing/2014/main" id="{26DE98B0-813A-42E7-AA21-23DAB348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59105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估计器使用的有效路径数</a:t>
            </a:r>
          </a:p>
        </p:txBody>
      </p:sp>
      <p:sp>
        <p:nvSpPr>
          <p:cNvPr id="28" name="dim-card-M">
            <a:extLst xmlns:a="http://schemas.openxmlformats.org/drawingml/2006/main">
              <a:ext uri="{FF2B5EF4-FFF2-40B4-BE49-F238E27FC236}">
                <a16:creationId xmlns:a16="http://schemas.microsoft.com/office/drawing/2014/main" id="{539DC4F6-46E6-4F53-85E0-25D534C9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2008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1430">
            <a:solidFill>
              <a:srgbClr val="D8E8FF"/>
            </a:solidFill>
            <a:prstDash val="solid"/>
          </a:ln>
        </p:spPr>
      </p:sp>
      <p:sp>
        <p:nvSpPr>
          <p:cNvPr id="29" name="dim-symbol-M">
            <a:extLst xmlns:a="http://schemas.openxmlformats.org/drawingml/2006/main">
              <a:ext uri="{FF2B5EF4-FFF2-40B4-BE49-F238E27FC236}">
                <a16:creationId xmlns:a16="http://schemas.microsoft.com/office/drawing/2014/main" id="{5E6AD936-F18B-4605-91C1-381D63F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6270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9A9C"/>
                </a:solidFill>
              </a:defRPr>
            </a:pPr>
            <a:r>
              <a:rPr sz="2700" b="1">
                <a:solidFill>
                  <a:srgbClr val="159A9C"/>
                </a:solidFill>
              </a:rPr>
              <a:t>M</a:t>
            </a:r>
          </a:p>
        </p:txBody>
      </p:sp>
      <p:sp>
        <p:nvSpPr>
          <p:cNvPr id="30" name="dim-en-M">
            <a:extLst xmlns:a="http://schemas.openxmlformats.org/drawingml/2006/main">
              <a:ext uri="{FF2B5EF4-FFF2-40B4-BE49-F238E27FC236}">
                <a16:creationId xmlns:a16="http://schemas.microsoft.com/office/drawing/2014/main" id="{7C3B2FF9-D4B8-4F49-9056-CDAB50D3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32460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observed tokens</a:t>
            </a:r>
          </a:p>
        </p:txBody>
      </p:sp>
      <p:sp>
        <p:nvSpPr>
          <p:cNvPr id="31" name="dim-cn-M">
            <a:extLst xmlns:a="http://schemas.openxmlformats.org/drawingml/2006/main">
              <a:ext uri="{FF2B5EF4-FFF2-40B4-BE49-F238E27FC236}">
                <a16:creationId xmlns:a16="http://schemas.microsoft.com/office/drawing/2014/main" id="{2ADB640B-DCA0-4F82-BF29-602EF76D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55320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当前 M = 2K</a:t>
            </a:r>
          </a:p>
        </p:txBody>
      </p:sp>
      <p:sp>
        <p:nvSpPr>
          <p:cNvPr id="32" name="dim-card-Q">
            <a:extLst xmlns:a="http://schemas.openxmlformats.org/drawingml/2006/main">
              <a:ext uri="{FF2B5EF4-FFF2-40B4-BE49-F238E27FC236}">
                <a16:creationId xmlns:a16="http://schemas.microsoft.com/office/drawing/2014/main" id="{597F8E31-E6F6-42DC-B8F7-5D908F9E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902008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1430">
            <a:solidFill>
              <a:srgbClr val="D8E8FF"/>
            </a:solidFill>
            <a:prstDash val="solid"/>
          </a:ln>
        </p:spPr>
      </p:sp>
      <p:sp>
        <p:nvSpPr>
          <p:cNvPr id="33" name="dim-symbol-Q">
            <a:extLst xmlns:a="http://schemas.openxmlformats.org/drawingml/2006/main">
              <a:ext uri="{FF2B5EF4-FFF2-40B4-BE49-F238E27FC236}">
                <a16:creationId xmlns:a16="http://schemas.microsoft.com/office/drawing/2014/main" id="{7C917E62-D018-400B-9F47-ED7C0015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36270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9A9C"/>
                </a:solidFill>
              </a:defRPr>
            </a:pPr>
            <a:r>
              <a:rPr sz="2700" b="1">
                <a:solidFill>
                  <a:srgbClr val="159A9C"/>
                </a:solidFill>
              </a:rPr>
              <a:t>Q</a:t>
            </a:r>
          </a:p>
        </p:txBody>
      </p:sp>
      <p:sp>
        <p:nvSpPr>
          <p:cNvPr id="34" name="dim-en-Q">
            <a:extLst xmlns:a="http://schemas.openxmlformats.org/drawingml/2006/main">
              <a:ext uri="{FF2B5EF4-FFF2-40B4-BE49-F238E27FC236}">
                <a16:creationId xmlns:a16="http://schemas.microsoft.com/office/drawing/2014/main" id="{4AB4C075-6106-474C-95A4-EF5360FC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32460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full-grid queries</a:t>
            </a:r>
          </a:p>
        </p:txBody>
      </p:sp>
      <p:sp>
        <p:nvSpPr>
          <p:cNvPr id="35" name="dim-cn-Q">
            <a:extLst xmlns:a="http://schemas.openxmlformats.org/drawingml/2006/main">
              <a:ext uri="{FF2B5EF4-FFF2-40B4-BE49-F238E27FC236}">
                <a16:creationId xmlns:a16="http://schemas.microsoft.com/office/drawing/2014/main" id="{4E6DC569-743C-4821-8E45-6C572633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55320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Q = NK</a:t>
            </a:r>
          </a:p>
        </p:txBody>
      </p:sp>
      <p:sp>
        <p:nvSpPr>
          <p:cNvPr id="36" name="dim-card-D">
            <a:extLst xmlns:a="http://schemas.openxmlformats.org/drawingml/2006/main">
              <a:ext uri="{FF2B5EF4-FFF2-40B4-BE49-F238E27FC236}">
                <a16:creationId xmlns:a16="http://schemas.microsoft.com/office/drawing/2014/main" id="{8B87AC4E-B800-42DA-A9F4-1C54BECC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5902008"/>
            <a:ext cx="5435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1430">
            <a:solidFill>
              <a:srgbClr val="D8E8FF"/>
            </a:solidFill>
            <a:prstDash val="solid"/>
          </a:ln>
        </p:spPr>
      </p:sp>
      <p:sp>
        <p:nvSpPr>
          <p:cNvPr id="37" name="dim-symbol-D">
            <a:extLst xmlns:a="http://schemas.openxmlformats.org/drawingml/2006/main">
              <a:ext uri="{FF2B5EF4-FFF2-40B4-BE49-F238E27FC236}">
                <a16:creationId xmlns:a16="http://schemas.microsoft.com/office/drawing/2014/main" id="{2479BA8B-D97D-4491-820D-E6E3A557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362700"/>
            <a:ext cx="99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9A9C"/>
                </a:solidFill>
              </a:defRPr>
            </a:pPr>
            <a:r>
              <a:rPr sz="2700" b="1">
                <a:solidFill>
                  <a:srgbClr val="159A9C"/>
                </a:solidFill>
              </a:rPr>
              <a:t>D</a:t>
            </a:r>
          </a:p>
        </p:txBody>
      </p:sp>
      <p:sp>
        <p:nvSpPr>
          <p:cNvPr id="38" name="dim-en-D">
            <a:extLst xmlns:a="http://schemas.openxmlformats.org/drawingml/2006/main">
              <a:ext uri="{FF2B5EF4-FFF2-40B4-BE49-F238E27FC236}">
                <a16:creationId xmlns:a16="http://schemas.microsoft.com/office/drawing/2014/main" id="{664EC8A6-4948-4CE4-9EB1-230D0A69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324600"/>
            <a:ext cx="384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890A8"/>
                </a:solidFill>
              </a:defRPr>
            </a:pPr>
            <a:r>
              <a:rPr sz="1200">
                <a:solidFill>
                  <a:srgbClr val="7890A8"/>
                </a:solidFill>
              </a:rPr>
              <a:t>embedding dim</a:t>
            </a:r>
          </a:p>
        </p:txBody>
      </p:sp>
      <p:sp>
        <p:nvSpPr>
          <p:cNvPr id="39" name="dim-cn-D">
            <a:extLst xmlns:a="http://schemas.openxmlformats.org/drawingml/2006/main">
              <a:ext uri="{FF2B5EF4-FFF2-40B4-BE49-F238E27FC236}">
                <a16:creationId xmlns:a16="http://schemas.microsoft.com/office/drawing/2014/main" id="{4D1DFAC1-394D-4E76-B569-586137F7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553200"/>
            <a:ext cx="3848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</a:rPr>
              <a:t>Transformer 隐空间维度</a:t>
            </a:r>
          </a:p>
        </p:txBody>
      </p:sp>
      <p:sp>
        <p:nvSpPr>
          <p:cNvPr id="40" name="shape-summary">
            <a:extLst xmlns:a="http://schemas.openxmlformats.org/drawingml/2006/main">
              <a:ext uri="{FF2B5EF4-FFF2-40B4-BE49-F238E27FC236}">
                <a16:creationId xmlns:a16="http://schemas.microsoft.com/office/drawing/2014/main" id="{C4CBC3AD-C541-47E2-94EA-12D0E7F9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91475"/>
            <a:ext cx="16725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1" name="shape-summary-0">
            <a:extLst xmlns:a="http://schemas.openxmlformats.org/drawingml/2006/main">
              <a:ext uri="{FF2B5EF4-FFF2-40B4-BE49-F238E27FC236}">
                <a16:creationId xmlns:a16="http://schemas.microsoft.com/office/drawing/2014/main" id="{BEEF592F-BC54-406A-BAD1-C65DA77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210550"/>
            <a:ext cx="1623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033"/>
                </a:solidFill>
              </a:defRPr>
            </a:pPr>
            <a:r>
              <a:rPr sz="1650">
                <a:solidFill>
                  <a:srgbClr val="102033"/>
                </a:solidFill>
              </a:rPr>
              <a:t>X_tok: [B, M, F_in],   F_in = 2Nr + 2Ns + 2 + 1 + 1</a:t>
            </a:r>
          </a:p>
        </p:txBody>
      </p:sp>
      <p:sp>
        <p:nvSpPr>
          <p:cNvPr id="42" name="shape-summary-1">
            <a:extLst xmlns:a="http://schemas.openxmlformats.org/drawingml/2006/main">
              <a:ext uri="{FF2B5EF4-FFF2-40B4-BE49-F238E27FC236}">
                <a16:creationId xmlns:a16="http://schemas.microsoft.com/office/drawing/2014/main" id="{B6CFDC61-AD7C-4518-83E3-0FDCF818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515350"/>
            <a:ext cx="1623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033"/>
                </a:solidFill>
              </a:defRPr>
            </a:pPr>
            <a:r>
              <a:rPr sz="1650">
                <a:solidFill>
                  <a:srgbClr val="102033"/>
                </a:solidFill>
              </a:rPr>
              <a:t>Gamma: [B, Q, M],      Q = N*K</a:t>
            </a:r>
          </a:p>
        </p:txBody>
      </p:sp>
      <p:sp>
        <p:nvSpPr>
          <p:cNvPr id="43" name="shape-summary-2">
            <a:extLst xmlns:a="http://schemas.openxmlformats.org/drawingml/2006/main">
              <a:ext uri="{FF2B5EF4-FFF2-40B4-BE49-F238E27FC236}">
                <a16:creationId xmlns:a16="http://schemas.microsoft.com/office/drawing/2014/main" id="{7399E081-ACB8-40A1-86D8-7AE8BEE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820150"/>
            <a:ext cx="16230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033"/>
                </a:solidFill>
              </a:defRPr>
            </a:pPr>
            <a:r>
              <a:rPr sz="1650">
                <a:solidFill>
                  <a:srgbClr val="102033"/>
                </a:solidFill>
              </a:rPr>
              <a:t>H_hat: [B, Nr, Ns, N, K]</a:t>
            </a:r>
          </a:p>
        </p:txBody>
      </p:sp>
      <p:sp>
        <p:nvSpPr>
          <p:cNvPr id="4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212B15-EA2E-49AB-997D-91A6A03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44050"/>
            <a:ext cx="163258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890A8"/>
                </a:solidFill>
              </a:defRPr>
            </a:pPr>
            <a:r>
              <a:rPr sz="900">
                <a:solidFill>
                  <a:srgbClr val="7890A8"/>
                </a:solidFill>
              </a:rPr>
              <a:t>EPGT-v1 architecture | physics-guided Transformer</a:t>
            </a:r>
          </a:p>
        </p:txBody>
      </p:sp>
      <p:sp>
        <p:nvSpPr>
          <p:cNvPr id="4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2EDA28-EC2D-4652-B4D8-CEE76DC5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0" y="9544050"/>
            <a:ext cx="4000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890A8"/>
                </a:solidFill>
              </a:defRPr>
            </a:pPr>
            <a:r>
              <a:rPr sz="975">
                <a:solidFill>
                  <a:srgbClr val="7890A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04895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-bg">
            <a:extLst xmlns:a="http://schemas.openxmlformats.org/drawingml/2006/main">
              <a:ext uri="{FF2B5EF4-FFF2-40B4-BE49-F238E27FC236}">
                <a16:creationId xmlns:a16="http://schemas.microsoft.com/office/drawing/2014/main" id="{2A5D504C-AC17-4C06-8116-17501D0E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D13AEF-743A-4F28-9F56-0817F2CD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6916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033"/>
                </a:solidFill>
              </a:defRPr>
            </a:pPr>
            <a:r>
              <a:rPr sz="3450" b="1">
                <a:solidFill>
                  <a:srgbClr val="102033"/>
                </a:solidFill>
              </a:rPr>
              <a:t>总体流程：先估物理结构，再用物理结构引导 attention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83DFF7-727A-4883-8137-518A6D44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439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53657A"/>
                </a:solidFill>
              </a:defRPr>
            </a:pPr>
            <a:r>
              <a:rPr sz="1725">
                <a:solidFill>
                  <a:srgbClr val="53657A"/>
                </a:solidFill>
              </a:rPr>
              <a:t>一页里只保留主干路径：observed tokens → encoder → heads → Gamma → cross-attention → LS/reconstruction。</a:t>
            </a:r>
          </a:p>
        </p:txBody>
      </p:sp>
      <p:sp>
        <p:nvSpPr>
          <p:cNvPr id="4" name="p-observed">
            <a:extLst xmlns:a="http://schemas.openxmlformats.org/drawingml/2006/main">
              <a:ext uri="{FF2B5EF4-FFF2-40B4-BE49-F238E27FC236}">
                <a16:creationId xmlns:a16="http://schemas.microsoft.com/office/drawing/2014/main" id="{088350EC-4071-458F-B445-BB33FED7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571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5" name="p-observed-title">
            <a:extLst xmlns:a="http://schemas.openxmlformats.org/drawingml/2006/main">
              <a:ext uri="{FF2B5EF4-FFF2-40B4-BE49-F238E27FC236}">
                <a16:creationId xmlns:a16="http://schemas.microsoft.com/office/drawing/2014/main" id="{D346C7DB-9A60-47A0-8807-234A8454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6FDB"/>
                </a:solidFill>
              </a:defRPr>
            </a:pPr>
            <a:r>
              <a:rPr sz="1725" b="1">
                <a:solidFill>
                  <a:srgbClr val="2A6FDB"/>
                </a:solidFill>
              </a:rPr>
              <a:t>Sparse observations</a:t>
            </a:r>
          </a:p>
        </p:txBody>
      </p:sp>
      <p:sp>
        <p:nvSpPr>
          <p:cNvPr id="6" name="p-observed-line-0">
            <a:extLst xmlns:a="http://schemas.openxmlformats.org/drawingml/2006/main">
              <a:ext uri="{FF2B5EF4-FFF2-40B4-BE49-F238E27FC236}">
                <a16:creationId xmlns:a16="http://schemas.microsoft.com/office/drawing/2014/main" id="{83092763-6782-4CBB-9C7D-5E555006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Y_obs: [B,Nr,2,K]</a:t>
            </a:r>
          </a:p>
        </p:txBody>
      </p:sp>
      <p:sp>
        <p:nvSpPr>
          <p:cNvPr id="7" name="p-observed-line-1">
            <a:extLst xmlns:a="http://schemas.openxmlformats.org/drawingml/2006/main">
              <a:ext uri="{FF2B5EF4-FFF2-40B4-BE49-F238E27FC236}">
                <a16:creationId xmlns:a16="http://schemas.microsoft.com/office/drawing/2014/main" id="{974DB47C-22B2-4218-932E-B0702DA9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X_obs: [B,Ns,2,K]</a:t>
            </a:r>
          </a:p>
        </p:txBody>
      </p:sp>
      <p:sp>
        <p:nvSpPr>
          <p:cNvPr id="8" name="arrow-→">
            <a:extLst xmlns:a="http://schemas.openxmlformats.org/drawingml/2006/main">
              <a:ext uri="{FF2B5EF4-FFF2-40B4-BE49-F238E27FC236}">
                <a16:creationId xmlns:a16="http://schemas.microsoft.com/office/drawing/2014/main" id="{707F8308-7342-4937-AFD4-8B28BA27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9" name="p-token">
            <a:extLst xmlns:a="http://schemas.openxmlformats.org/drawingml/2006/main">
              <a:ext uri="{FF2B5EF4-FFF2-40B4-BE49-F238E27FC236}">
                <a16:creationId xmlns:a16="http://schemas.microsoft.com/office/drawing/2014/main" id="{737EC7A0-7FFE-4672-B736-536597D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71650"/>
            <a:ext cx="26193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0" name="p-token-title">
            <a:extLst xmlns:a="http://schemas.openxmlformats.org/drawingml/2006/main">
              <a:ext uri="{FF2B5EF4-FFF2-40B4-BE49-F238E27FC236}">
                <a16:creationId xmlns:a16="http://schemas.microsoft.com/office/drawing/2014/main" id="{F3DE535F-24A3-45CA-85C0-7813F3C4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43100"/>
            <a:ext cx="220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6FDB"/>
                </a:solidFill>
              </a:defRPr>
            </a:pPr>
            <a:r>
              <a:rPr sz="1725" b="1">
                <a:solidFill>
                  <a:srgbClr val="2A6FDB"/>
                </a:solidFill>
              </a:rPr>
              <a:t>Observation tokens</a:t>
            </a:r>
          </a:p>
        </p:txBody>
      </p:sp>
      <p:sp>
        <p:nvSpPr>
          <p:cNvPr id="11" name="p-token-line-0">
            <a:extLst xmlns:a="http://schemas.openxmlformats.org/drawingml/2006/main">
              <a:ext uri="{FF2B5EF4-FFF2-40B4-BE49-F238E27FC236}">
                <a16:creationId xmlns:a16="http://schemas.microsoft.com/office/drawing/2014/main" id="{57C045E6-6907-4936-A3F1-5B4CE1D6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20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X_tok: [B,M,F_in]</a:t>
            </a:r>
          </a:p>
        </p:txBody>
      </p:sp>
      <p:sp>
        <p:nvSpPr>
          <p:cNvPr id="12" name="p-token-line-1">
            <a:extLst xmlns:a="http://schemas.openxmlformats.org/drawingml/2006/main">
              <a:ext uri="{FF2B5EF4-FFF2-40B4-BE49-F238E27FC236}">
                <a16:creationId xmlns:a16="http://schemas.microsoft.com/office/drawing/2014/main" id="{C09A2D60-915E-4EB4-803D-88503375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95550"/>
            <a:ext cx="220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M = 2K</a:t>
            </a:r>
          </a:p>
        </p:txBody>
      </p:sp>
      <p:sp>
        <p:nvSpPr>
          <p:cNvPr id="13" name="arrow-→">
            <a:extLst xmlns:a="http://schemas.openxmlformats.org/drawingml/2006/main">
              <a:ext uri="{FF2B5EF4-FFF2-40B4-BE49-F238E27FC236}">
                <a16:creationId xmlns:a16="http://schemas.microsoft.com/office/drawing/2014/main" id="{601FA42F-AF51-42F0-8EF6-F73B44BF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14" name="p-encoder">
            <a:extLst xmlns:a="http://schemas.openxmlformats.org/drawingml/2006/main">
              <a:ext uri="{FF2B5EF4-FFF2-40B4-BE49-F238E27FC236}">
                <a16:creationId xmlns:a16="http://schemas.microsoft.com/office/drawing/2014/main" id="{1DB3A2B2-895B-49B6-852E-D09E6BD5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38300"/>
            <a:ext cx="30003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5" name="p-encoder-title">
            <a:extLst xmlns:a="http://schemas.openxmlformats.org/drawingml/2006/main">
              <a:ext uri="{FF2B5EF4-FFF2-40B4-BE49-F238E27FC236}">
                <a16:creationId xmlns:a16="http://schemas.microsoft.com/office/drawing/2014/main" id="{886C69FA-17D5-497F-B7FB-720BB8FA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9A9C"/>
                </a:solidFill>
              </a:defRPr>
            </a:pPr>
            <a:r>
              <a:rPr sz="1725" b="1">
                <a:solidFill>
                  <a:srgbClr val="159A9C"/>
                </a:solidFill>
              </a:rPr>
              <a:t>ObservationEncoder</a:t>
            </a:r>
          </a:p>
        </p:txBody>
      </p:sp>
      <p:sp>
        <p:nvSpPr>
          <p:cNvPr id="16" name="p-encoder-line-0">
            <a:extLst xmlns:a="http://schemas.openxmlformats.org/drawingml/2006/main">
              <a:ext uri="{FF2B5EF4-FFF2-40B4-BE49-F238E27FC236}">
                <a16:creationId xmlns:a16="http://schemas.microsoft.com/office/drawing/2014/main" id="{B3073E1B-6D42-4FB7-8CC0-C49688BB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global token + tokens</a:t>
            </a:r>
          </a:p>
        </p:txBody>
      </p:sp>
      <p:sp>
        <p:nvSpPr>
          <p:cNvPr id="17" name="p-encoder-line-1">
            <a:extLst xmlns:a="http://schemas.openxmlformats.org/drawingml/2006/main">
              <a:ext uri="{FF2B5EF4-FFF2-40B4-BE49-F238E27FC236}">
                <a16:creationId xmlns:a16="http://schemas.microsoft.com/office/drawing/2014/main" id="{69F24091-B7F0-4513-B8E6-353AA15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Z_obs: [B,M,D]</a:t>
            </a:r>
          </a:p>
        </p:txBody>
      </p:sp>
      <p:sp>
        <p:nvSpPr>
          <p:cNvPr id="18" name="p-encoder-line-2">
            <a:extLst xmlns:a="http://schemas.openxmlformats.org/drawingml/2006/main">
              <a:ext uri="{FF2B5EF4-FFF2-40B4-BE49-F238E27FC236}">
                <a16:creationId xmlns:a16="http://schemas.microsoft.com/office/drawing/2014/main" id="{C918E12F-0BEE-4022-B2B6-45B859B2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z_g: [B,D]</a:t>
            </a:r>
          </a:p>
        </p:txBody>
      </p:sp>
      <p:sp>
        <p:nvSpPr>
          <p:cNvPr id="19" name="arrow-→">
            <a:extLst xmlns:a="http://schemas.openxmlformats.org/drawingml/2006/main">
              <a:ext uri="{FF2B5EF4-FFF2-40B4-BE49-F238E27FC236}">
                <a16:creationId xmlns:a16="http://schemas.microsoft.com/office/drawing/2014/main" id="{0E2F1929-E3A5-4223-AA79-42B542DD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336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20" name="p-heads">
            <a:extLst xmlns:a="http://schemas.openxmlformats.org/drawingml/2006/main">
              <a:ext uri="{FF2B5EF4-FFF2-40B4-BE49-F238E27FC236}">
                <a16:creationId xmlns:a16="http://schemas.microsoft.com/office/drawing/2014/main" id="{119AEB56-7CE4-427F-A4B5-DD9E0931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716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1" name="p-heads-title">
            <a:extLst xmlns:a="http://schemas.openxmlformats.org/drawingml/2006/main">
              <a:ext uri="{FF2B5EF4-FFF2-40B4-BE49-F238E27FC236}">
                <a16:creationId xmlns:a16="http://schemas.microsoft.com/office/drawing/2014/main" id="{19EC13FA-13EC-4DD3-837B-A5010A5C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943100"/>
            <a:ext cx="2438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B55C8"/>
                </a:solidFill>
              </a:defRPr>
            </a:pPr>
            <a:r>
              <a:rPr sz="1725" b="1">
                <a:solidFill>
                  <a:srgbClr val="6B55C8"/>
                </a:solidFill>
              </a:rPr>
              <a:t>Path/global heads</a:t>
            </a:r>
          </a:p>
        </p:txBody>
      </p:sp>
      <p:sp>
        <p:nvSpPr>
          <p:cNvPr id="22" name="p-heads-line-0">
            <a:extLst xmlns:a="http://schemas.openxmlformats.org/drawingml/2006/main">
              <a:ext uri="{FF2B5EF4-FFF2-40B4-BE49-F238E27FC236}">
                <a16:creationId xmlns:a16="http://schemas.microsoft.com/office/drawing/2014/main" id="{66B86C7D-DE9C-4A3B-B70F-AF02492E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4790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alpha,d,nu: [B,Leff]</a:t>
            </a:r>
          </a:p>
        </p:txBody>
      </p:sp>
      <p:sp>
        <p:nvSpPr>
          <p:cNvPr id="23" name="p-heads-line-1">
            <a:extLst xmlns:a="http://schemas.openxmlformats.org/drawingml/2006/main">
              <a:ext uri="{FF2B5EF4-FFF2-40B4-BE49-F238E27FC236}">
                <a16:creationId xmlns:a16="http://schemas.microsoft.com/office/drawing/2014/main" id="{0CEEBD71-647D-4748-8F3E-9371881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49555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cfo,epsilon</a:t>
            </a:r>
          </a:p>
        </p:txBody>
      </p:sp>
      <p:sp>
        <p:nvSpPr>
          <p:cNvPr id="24" name="arrow-→">
            <a:extLst xmlns:a="http://schemas.openxmlformats.org/drawingml/2006/main">
              <a:ext uri="{FF2B5EF4-FFF2-40B4-BE49-F238E27FC236}">
                <a16:creationId xmlns:a16="http://schemas.microsoft.com/office/drawing/2014/main" id="{16AD5372-560B-4086-B302-7EB7BA60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21336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25" name="p-gamma">
            <a:extLst xmlns:a="http://schemas.openxmlformats.org/drawingml/2006/main">
              <a:ext uri="{FF2B5EF4-FFF2-40B4-BE49-F238E27FC236}">
                <a16:creationId xmlns:a16="http://schemas.microsoft.com/office/drawing/2014/main" id="{138A8E73-E3F6-43E0-B225-281B1575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771650"/>
            <a:ext cx="2762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6" name="p-gamma-title">
            <a:extLst xmlns:a="http://schemas.openxmlformats.org/drawingml/2006/main">
              <a:ext uri="{FF2B5EF4-FFF2-40B4-BE49-F238E27FC236}">
                <a16:creationId xmlns:a16="http://schemas.microsoft.com/office/drawing/2014/main" id="{085CD2B1-E7DB-4A94-89D3-039E0BC5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1943100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87922"/>
                </a:solidFill>
              </a:defRPr>
            </a:pPr>
            <a:r>
              <a:rPr sz="1725" b="1">
                <a:solidFill>
                  <a:srgbClr val="D87922"/>
                </a:solidFill>
              </a:rPr>
              <a:t>Physics bias</a:t>
            </a:r>
          </a:p>
        </p:txBody>
      </p:sp>
      <p:sp>
        <p:nvSpPr>
          <p:cNvPr id="27" name="p-gamma-line-0">
            <a:extLst xmlns:a="http://schemas.openxmlformats.org/drawingml/2006/main">
              <a:ext uri="{FF2B5EF4-FFF2-40B4-BE49-F238E27FC236}">
                <a16:creationId xmlns:a16="http://schemas.microsoft.com/office/drawing/2014/main" id="{5C33B980-8D41-4A21-9FBA-CF3FC6EB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2247900"/>
            <a:ext cx="2343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Gamma(q,i): [B,Q,M]</a:t>
            </a:r>
          </a:p>
        </p:txBody>
      </p:sp>
      <p:sp>
        <p:nvSpPr>
          <p:cNvPr id="28" name="p-gamma-line-1">
            <a:extLst xmlns:a="http://schemas.openxmlformats.org/drawingml/2006/main">
              <a:ext uri="{FF2B5EF4-FFF2-40B4-BE49-F238E27FC236}">
                <a16:creationId xmlns:a16="http://schemas.microsoft.com/office/drawing/2014/main" id="{55372040-F790-4861-BCDB-AC527E63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2495550"/>
            <a:ext cx="2343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Q = NK</a:t>
            </a:r>
          </a:p>
        </p:txBody>
      </p:sp>
      <p:sp>
        <p:nvSpPr>
          <p:cNvPr id="29" name="query-lane">
            <a:extLst xmlns:a="http://schemas.openxmlformats.org/drawingml/2006/main">
              <a:ext uri="{FF2B5EF4-FFF2-40B4-BE49-F238E27FC236}">
                <a16:creationId xmlns:a16="http://schemas.microsoft.com/office/drawing/2014/main" id="{5C69C02B-F3DF-4A1B-801A-ED6FC340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9052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8E8FF"/>
          </a:solidFill>
          <a:ln xmlns:a="http://schemas.openxmlformats.org/drawingml/2006/main" w="11430">
            <a:solidFill>
              <a:srgbClr val="B9D3F5"/>
            </a:solidFill>
            <a:prstDash val="solid"/>
          </a:ln>
        </p:spPr>
      </p:sp>
      <p:sp>
        <p:nvSpPr>
          <p:cNvPr id="30" name="query-title">
            <a:extLst xmlns:a="http://schemas.openxmlformats.org/drawingml/2006/main">
              <a:ext uri="{FF2B5EF4-FFF2-40B4-BE49-F238E27FC236}">
                <a16:creationId xmlns:a16="http://schemas.microsoft.com/office/drawing/2014/main" id="{EFBFB5E0-5B9A-4300-AF73-B227D9D5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3486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6FDB"/>
                </a:solidFill>
              </a:defRPr>
            </a:pPr>
            <a:r>
              <a:rPr sz="1725" b="1">
                <a:solidFill>
                  <a:srgbClr val="2A6FDB"/>
                </a:solidFill>
              </a:rPr>
              <a:t>Full-grid query lane</a:t>
            </a:r>
          </a:p>
        </p:txBody>
      </p:sp>
      <p:sp>
        <p:nvSpPr>
          <p:cNvPr id="31" name="query-lines">
            <a:extLst xmlns:a="http://schemas.openxmlformats.org/drawingml/2006/main">
              <a:ext uri="{FF2B5EF4-FFF2-40B4-BE49-F238E27FC236}">
                <a16:creationId xmlns:a16="http://schemas.microsoft.com/office/drawing/2014/main" id="{AF745861-A92C-455D-807F-E3CFBF66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3486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033"/>
                </a:solidFill>
              </a:defRPr>
            </a:pPr>
            <a:r>
              <a:rPr sz="1425">
                <a:solidFill>
                  <a:srgbClr val="102033"/>
                </a:solidFill>
              </a:rPr>
              <a:t>C_q: [Q,2],  Q = N*K</a:t>
            </a:r>
          </a:p>
          <a:p xmlns:a="http://schemas.openxmlformats.org/drawingml/2006/main">
            <a:pPr>
              <a:defRPr sz="1425">
                <a:solidFill>
                  <a:srgbClr val="102033"/>
                </a:solidFill>
              </a:defRPr>
            </a:pPr>
            <a:r>
              <a:rPr sz="1425">
                <a:solidFill>
                  <a:srgbClr val="102033"/>
                </a:solidFill>
              </a:rPr>
              <a:t>Z_q: [B,Q,D]</a:t>
            </a:r>
          </a:p>
        </p:txBody>
      </p:sp>
      <p:sp>
        <p:nvSpPr>
          <p:cNvPr id="32" name="arrow-＋">
            <a:extLst xmlns:a="http://schemas.openxmlformats.org/drawingml/2006/main">
              <a:ext uri="{FF2B5EF4-FFF2-40B4-BE49-F238E27FC236}">
                <a16:creationId xmlns:a16="http://schemas.microsoft.com/office/drawing/2014/main" id="{E2F501D6-B946-4060-9EF1-5AA1045F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6FDB"/>
                </a:solidFill>
              </a:defRPr>
            </a:pPr>
            <a:r>
              <a:rPr sz="2550" b="1">
                <a:solidFill>
                  <a:srgbClr val="2A6FDB"/>
                </a:solidFill>
              </a:rPr>
              <a:t>＋</a:t>
            </a:r>
          </a:p>
        </p:txBody>
      </p:sp>
      <p:sp>
        <p:nvSpPr>
          <p:cNvPr id="33" name="p-cross">
            <a:extLst xmlns:a="http://schemas.openxmlformats.org/drawingml/2006/main">
              <a:ext uri="{FF2B5EF4-FFF2-40B4-BE49-F238E27FC236}">
                <a16:creationId xmlns:a16="http://schemas.microsoft.com/office/drawing/2014/main" id="{26D0E429-02BF-4391-ABDA-05069D1A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76600"/>
            <a:ext cx="3857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FFE"/>
          </a:solidFill>
          <a:ln xmlns:a="http://schemas.openxmlformats.org/drawingml/2006/main" w="11430">
            <a:solidFill>
              <a:srgbClr val="BBDDDD"/>
            </a:solidFill>
            <a:prstDash val="solid"/>
          </a:ln>
        </p:spPr>
      </p:sp>
      <p:sp>
        <p:nvSpPr>
          <p:cNvPr id="34" name="p-cross-title">
            <a:extLst xmlns:a="http://schemas.openxmlformats.org/drawingml/2006/main">
              <a:ext uri="{FF2B5EF4-FFF2-40B4-BE49-F238E27FC236}">
                <a16:creationId xmlns:a16="http://schemas.microsoft.com/office/drawing/2014/main" id="{15B8823B-9EE3-4713-A9AE-6C86D74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4805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9A9C"/>
                </a:solidFill>
              </a:defRPr>
            </a:pPr>
            <a:r>
              <a:rPr sz="1725" b="1">
                <a:solidFill>
                  <a:srgbClr val="159A9C"/>
                </a:solidFill>
              </a:rPr>
              <a:t>Physics-guided cross-attention</a:t>
            </a:r>
          </a:p>
        </p:txBody>
      </p:sp>
      <p:sp>
        <p:nvSpPr>
          <p:cNvPr id="35" name="p-cross-line-0">
            <a:extLst xmlns:a="http://schemas.openxmlformats.org/drawingml/2006/main">
              <a:ext uri="{FF2B5EF4-FFF2-40B4-BE49-F238E27FC236}">
                <a16:creationId xmlns:a16="http://schemas.microsoft.com/office/drawing/2014/main" id="{C3BE86C9-0A50-4EFC-AA0B-A797165F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52850"/>
            <a:ext cx="3448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query: [B,Q,D]</a:t>
            </a:r>
          </a:p>
        </p:txBody>
      </p:sp>
      <p:sp>
        <p:nvSpPr>
          <p:cNvPr id="36" name="p-cross-line-1">
            <a:extLst xmlns:a="http://schemas.openxmlformats.org/drawingml/2006/main">
              <a:ext uri="{FF2B5EF4-FFF2-40B4-BE49-F238E27FC236}">
                <a16:creationId xmlns:a16="http://schemas.microsoft.com/office/drawing/2014/main" id="{6BF58853-CCF5-4D86-984F-17965AEB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00500"/>
            <a:ext cx="3448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context: [B,M,D]</a:t>
            </a:r>
          </a:p>
        </p:txBody>
      </p:sp>
      <p:sp>
        <p:nvSpPr>
          <p:cNvPr id="37" name="p-cross-line-2">
            <a:extLst xmlns:a="http://schemas.openxmlformats.org/drawingml/2006/main">
              <a:ext uri="{FF2B5EF4-FFF2-40B4-BE49-F238E27FC236}">
                <a16:creationId xmlns:a16="http://schemas.microsoft.com/office/drawing/2014/main" id="{E49E4787-EA55-40D8-9342-19EEE0C2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48150"/>
            <a:ext cx="3448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bias: [B,Q,M]</a:t>
            </a:r>
          </a:p>
        </p:txBody>
      </p:sp>
      <p:sp>
        <p:nvSpPr>
          <p:cNvPr id="38" name="arrow-→">
            <a:extLst xmlns:a="http://schemas.openxmlformats.org/drawingml/2006/main">
              <a:ext uri="{FF2B5EF4-FFF2-40B4-BE49-F238E27FC236}">
                <a16:creationId xmlns:a16="http://schemas.microsoft.com/office/drawing/2014/main" id="{32122F2C-B276-4DBF-910C-82243BA9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719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39" name="p-ls">
            <a:extLst xmlns:a="http://schemas.openxmlformats.org/drawingml/2006/main">
              <a:ext uri="{FF2B5EF4-FFF2-40B4-BE49-F238E27FC236}">
                <a16:creationId xmlns:a16="http://schemas.microsoft.com/office/drawing/2014/main" id="{B6F1C7F6-15B3-4BBA-8E4C-BF8A2373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543300"/>
            <a:ext cx="300037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FFF9"/>
          </a:solidFill>
          <a:ln xmlns:a="http://schemas.openxmlformats.org/drawingml/2006/main" w="11430">
            <a:solidFill>
              <a:srgbClr val="B8DEC5"/>
            </a:solidFill>
            <a:prstDash val="solid"/>
          </a:ln>
        </p:spPr>
      </p:sp>
      <p:sp>
        <p:nvSpPr>
          <p:cNvPr id="40" name="p-ls-title">
            <a:extLst xmlns:a="http://schemas.openxmlformats.org/drawingml/2006/main">
              <a:ext uri="{FF2B5EF4-FFF2-40B4-BE49-F238E27FC236}">
                <a16:creationId xmlns:a16="http://schemas.microsoft.com/office/drawing/2014/main" id="{36C86247-F57F-4321-972E-0EE1741A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14750"/>
            <a:ext cx="259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9D57"/>
                </a:solidFill>
              </a:defRPr>
            </a:pPr>
            <a:r>
              <a:rPr sz="1725" b="1">
                <a:solidFill>
                  <a:srgbClr val="2E9D57"/>
                </a:solidFill>
              </a:rPr>
              <a:t>Complex LS recovery</a:t>
            </a:r>
          </a:p>
        </p:txBody>
      </p:sp>
      <p:sp>
        <p:nvSpPr>
          <p:cNvPr id="41" name="p-ls-line-0">
            <a:extLst xmlns:a="http://schemas.openxmlformats.org/drawingml/2006/main">
              <a:ext uri="{FF2B5EF4-FFF2-40B4-BE49-F238E27FC236}">
                <a16:creationId xmlns:a16="http://schemas.microsoft.com/office/drawing/2014/main" id="{D18DEBF4-3C20-4D75-A0A8-8BB5BC0B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1955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G_hat: [B,Leff,Nr,Ns]</a:t>
            </a:r>
          </a:p>
        </p:txBody>
      </p:sp>
      <p:sp>
        <p:nvSpPr>
          <p:cNvPr id="42" name="arrow-→">
            <a:extLst xmlns:a="http://schemas.openxmlformats.org/drawingml/2006/main">
              <a:ext uri="{FF2B5EF4-FFF2-40B4-BE49-F238E27FC236}">
                <a16:creationId xmlns:a16="http://schemas.microsoft.com/office/drawing/2014/main" id="{D2713CF1-AB78-4E61-9703-5395928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37719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43" name="p-hhat">
            <a:extLst xmlns:a="http://schemas.openxmlformats.org/drawingml/2006/main">
              <a:ext uri="{FF2B5EF4-FFF2-40B4-BE49-F238E27FC236}">
                <a16:creationId xmlns:a16="http://schemas.microsoft.com/office/drawing/2014/main" id="{BC487152-8A9D-45AF-BA64-EF5545AE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543300"/>
            <a:ext cx="3429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9C6C8"/>
            </a:solidFill>
            <a:prstDash val="solid"/>
          </a:ln>
        </p:spPr>
      </p:sp>
      <p:sp>
        <p:nvSpPr>
          <p:cNvPr id="44" name="p-hhat-title">
            <a:extLst xmlns:a="http://schemas.openxmlformats.org/drawingml/2006/main">
              <a:ext uri="{FF2B5EF4-FFF2-40B4-BE49-F238E27FC236}">
                <a16:creationId xmlns:a16="http://schemas.microsoft.com/office/drawing/2014/main" id="{EA9667A2-83EB-4CBE-821F-1E15AA6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71475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44E52"/>
                </a:solidFill>
              </a:defRPr>
            </a:pPr>
            <a:r>
              <a:rPr sz="1725" b="1">
                <a:solidFill>
                  <a:srgbClr val="C44E52"/>
                </a:solidFill>
              </a:rPr>
              <a:t>Full-grid channel</a:t>
            </a:r>
          </a:p>
        </p:txBody>
      </p:sp>
      <p:sp>
        <p:nvSpPr>
          <p:cNvPr id="45" name="p-hhat-line-0">
            <a:extLst xmlns:a="http://schemas.openxmlformats.org/drawingml/2006/main">
              <a:ext uri="{FF2B5EF4-FFF2-40B4-BE49-F238E27FC236}">
                <a16:creationId xmlns:a16="http://schemas.microsoft.com/office/drawing/2014/main" id="{E4C547A1-1DBA-43DD-9A6B-F33D1C4C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019550"/>
            <a:ext cx="3009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H_hat: [B,Nr,Ns,N,K]</a:t>
            </a:r>
          </a:p>
        </p:txBody>
      </p:sp>
      <p:sp>
        <p:nvSpPr>
          <p:cNvPr id="46" name="pipeline-thesis">
            <a:extLst xmlns:a="http://schemas.openxmlformats.org/drawingml/2006/main">
              <a:ext uri="{FF2B5EF4-FFF2-40B4-BE49-F238E27FC236}">
                <a16:creationId xmlns:a16="http://schemas.microsoft.com/office/drawing/2014/main" id="{705F23CD-B7B9-444E-B8EE-F05E695B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8998"/>
            <a:ext cx="169164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0">
            <a:solidFill>
              <a:srgbClr val="0F2437"/>
            </a:solidFill>
            <a:prstDash val="solid"/>
          </a:ln>
        </p:spPr>
      </p:sp>
      <p:sp>
        <p:nvSpPr>
          <p:cNvPr id="47" name="pipeline-thesis-0">
            <a:extLst xmlns:a="http://schemas.openxmlformats.org/drawingml/2006/main">
              <a:ext uri="{FF2B5EF4-FFF2-40B4-BE49-F238E27FC236}">
                <a16:creationId xmlns:a16="http://schemas.microsoft.com/office/drawing/2014/main" id="{CA297D22-5E25-47A5-9C27-0B282D23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642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EPGT is not only a deeper Transformer:</a:t>
            </a:r>
          </a:p>
        </p:txBody>
      </p:sp>
      <p:sp>
        <p:nvSpPr>
          <p:cNvPr id="48" name="pipeline-thesis-1">
            <a:extLst xmlns:a="http://schemas.openxmlformats.org/drawingml/2006/main">
              <a:ext uri="{FF2B5EF4-FFF2-40B4-BE49-F238E27FC236}">
                <a16:creationId xmlns:a16="http://schemas.microsoft.com/office/drawing/2014/main" id="{9CB00184-1D46-4B77-B501-D9081A43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1642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predicted effective paths -&gt; Gamma(q,i) -&gt; guided reading of observed REs</a:t>
            </a:r>
          </a:p>
        </p:txBody>
      </p:sp>
      <p:sp>
        <p:nvSpPr>
          <p:cNvPr id="4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F2BA461-6FBB-4A53-97C2-61EBB2E7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65163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890A8"/>
                </a:solidFill>
              </a:defRPr>
            </a:pPr>
            <a:r>
              <a:rPr sz="900">
                <a:solidFill>
                  <a:srgbClr val="7890A8"/>
                </a:solidFill>
              </a:rPr>
              <a:t>EPGT-v1 architecture | physics-guided Transformer</a:t>
            </a:r>
          </a:p>
        </p:txBody>
      </p:sp>
      <p:sp>
        <p:nvSpPr>
          <p:cNvPr id="5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6F3D551-C45B-48CE-BEF4-EDC1822F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6191250"/>
            <a:ext cx="4000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890A8"/>
                </a:solidFill>
              </a:defRPr>
            </a:pPr>
            <a:r>
              <a:rPr sz="975">
                <a:solidFill>
                  <a:srgbClr val="7890A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62515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-bg">
            <a:extLst xmlns:a="http://schemas.openxmlformats.org/drawingml/2006/main">
              <a:ext uri="{FF2B5EF4-FFF2-40B4-BE49-F238E27FC236}">
                <a16:creationId xmlns:a16="http://schemas.microsoft.com/office/drawing/2014/main" id="{1BCC682B-658D-48D8-8715-946EE42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432056-4806-4F64-9B8C-35FE9AFC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676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033"/>
                </a:solidFill>
              </a:defRPr>
            </a:pPr>
            <a:r>
              <a:rPr sz="3450" b="1">
                <a:solidFill>
                  <a:srgbClr val="102033"/>
                </a:solidFill>
              </a:rPr>
              <a:t>参数头：global token 是全局物理状态容器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5CF5C1-E536-4D17-99C3-EBE06D96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9677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53657A"/>
                </a:solidFill>
              </a:defRPr>
            </a:pPr>
            <a:r>
              <a:rPr sz="1725">
                <a:solidFill>
                  <a:srgbClr val="53657A"/>
                </a:solidFill>
              </a:rPr>
              <a:t>Baseline 只做 mean pooling；EPGT 用 learnable global token 承载 CFO、采样偏移和 effective-path 参数。</a:t>
            </a:r>
          </a:p>
        </p:txBody>
      </p:sp>
      <p:sp>
        <p:nvSpPr>
          <p:cNvPr id="4" name="heads-input">
            <a:extLst xmlns:a="http://schemas.openxmlformats.org/drawingml/2006/main">
              <a:ext uri="{FF2B5EF4-FFF2-40B4-BE49-F238E27FC236}">
                <a16:creationId xmlns:a16="http://schemas.microsoft.com/office/drawing/2014/main" id="{03951611-CEA2-4903-B6FD-47DE4C33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2623"/>
            <a:ext cx="4880610" cy="7354253"/>
          </a:xfrm>
          <a:prstGeom xmlns:a="http://schemas.openxmlformats.org/drawingml/2006/main" prst="roundRect">
            <a:avLst>
              <a:gd name="adj" fmla="val 1561"/>
            </a:avLst>
          </a:prstGeom>
          <a:solidFill xmlns:a="http://schemas.openxmlformats.org/drawingml/2006/main">
            <a:srgbClr val="F7FFFE"/>
          </a:solidFill>
          <a:ln xmlns:a="http://schemas.openxmlformats.org/drawingml/2006/main" w="11430">
            <a:solidFill>
              <a:srgbClr val="BBDDDD"/>
            </a:solidFill>
            <a:prstDash val="solid"/>
          </a:ln>
        </p:spPr>
      </p:sp>
      <p:sp>
        <p:nvSpPr>
          <p:cNvPr id="5" name="heads-input-title">
            <a:extLst xmlns:a="http://schemas.openxmlformats.org/drawingml/2006/main">
              <a:ext uri="{FF2B5EF4-FFF2-40B4-BE49-F238E27FC236}">
                <a16:creationId xmlns:a16="http://schemas.microsoft.com/office/drawing/2014/main" id="{B2C2F7B6-4D08-430B-97BC-0EBFAF93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4457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59A9C"/>
                </a:solidFill>
              </a:defRPr>
            </a:pPr>
            <a:r>
              <a:rPr sz="1950" b="1">
                <a:solidFill>
                  <a:srgbClr val="159A9C"/>
                </a:solidFill>
              </a:rPr>
              <a:t>Encoder output</a:t>
            </a:r>
          </a:p>
        </p:txBody>
      </p:sp>
      <p:sp>
        <p:nvSpPr>
          <p:cNvPr id="6" name="heads-input-line-0">
            <a:extLst xmlns:a="http://schemas.openxmlformats.org/drawingml/2006/main">
              <a:ext uri="{FF2B5EF4-FFF2-40B4-BE49-F238E27FC236}">
                <a16:creationId xmlns:a16="http://schemas.microsoft.com/office/drawing/2014/main" id="{8E536CC9-1BA9-4259-AD75-5AF1FDD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445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53657A"/>
                </a:solidFill>
              </a:defRPr>
            </a:pPr>
            <a:r>
              <a:rPr sz="1575">
                <a:solidFill>
                  <a:srgbClr val="53657A"/>
                </a:solidFill>
              </a:rPr>
              <a:t>z_g: [B,D]</a:t>
            </a:r>
          </a:p>
        </p:txBody>
      </p:sp>
      <p:sp>
        <p:nvSpPr>
          <p:cNvPr id="7" name="heads-input-line-1">
            <a:extLst xmlns:a="http://schemas.openxmlformats.org/drawingml/2006/main">
              <a:ext uri="{FF2B5EF4-FFF2-40B4-BE49-F238E27FC236}">
                <a16:creationId xmlns:a16="http://schemas.microsoft.com/office/drawing/2014/main" id="{5C8FB4EF-0E68-42F7-8C80-FE748FA2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4457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75">
                <a:solidFill>
                  <a:srgbClr val="53657A"/>
                </a:solidFill>
              </a:defRPr>
            </a:pPr>
            <a:r>
              <a:rPr sz="1575">
                <a:solidFill>
                  <a:srgbClr val="53657A"/>
                </a:solidFill>
              </a:rPr>
              <a:t>Z_obs: [B,M,D]</a:t>
            </a:r>
          </a:p>
        </p:txBody>
      </p:sp>
      <p:sp>
        <p:nvSpPr>
          <p:cNvPr id="8" name="global-head">
            <a:extLst xmlns:a="http://schemas.openxmlformats.org/drawingml/2006/main">
              <a:ext uri="{FF2B5EF4-FFF2-40B4-BE49-F238E27FC236}">
                <a16:creationId xmlns:a16="http://schemas.microsoft.com/office/drawing/2014/main" id="{B2337684-F9C7-4DBA-9749-C09957C1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260" y="1932623"/>
            <a:ext cx="5694045" cy="7354253"/>
          </a:xfrm>
          <a:prstGeom xmlns:a="http://schemas.openxmlformats.org/drawingml/2006/main" prst="roundRect">
            <a:avLst>
              <a:gd name="adj" fmla="val 1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9" name="chip-Global head">
            <a:extLst xmlns:a="http://schemas.openxmlformats.org/drawingml/2006/main">
              <a:ext uri="{FF2B5EF4-FFF2-40B4-BE49-F238E27FC236}">
                <a16:creationId xmlns:a16="http://schemas.microsoft.com/office/drawing/2014/main" id="{3761D181-0377-4FCF-A208-B4655C7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2180273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8FF"/>
          </a:solidFill>
          <a:ln xmlns:a="http://schemas.openxmlformats.org/drawingml/2006/main" w="9525">
            <a:solidFill>
              <a:srgbClr val="2A6FDB"/>
            </a:solidFill>
            <a:prstDash val="solid"/>
          </a:ln>
        </p:spPr>
      </p:sp>
      <p:sp>
        <p:nvSpPr>
          <p:cNvPr id="10" name="chip-text-Global head">
            <a:extLst xmlns:a="http://schemas.openxmlformats.org/drawingml/2006/main">
              <a:ext uri="{FF2B5EF4-FFF2-40B4-BE49-F238E27FC236}">
                <a16:creationId xmlns:a16="http://schemas.microsoft.com/office/drawing/2014/main" id="{D6719062-2669-420B-8B03-76F6351E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1600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FDB"/>
                </a:solidFill>
              </a:defRPr>
            </a:pPr>
            <a:r>
              <a:rPr sz="1125" b="1">
                <a:solidFill>
                  <a:srgbClr val="2A6FDB"/>
                </a:solidFill>
              </a:rPr>
              <a:t>Global head</a:t>
            </a:r>
          </a:p>
        </p:txBody>
      </p:sp>
      <p:sp>
        <p:nvSpPr>
          <p:cNvPr id="11" name="global-head-title">
            <a:extLst xmlns:a="http://schemas.openxmlformats.org/drawingml/2006/main">
              <a:ext uri="{FF2B5EF4-FFF2-40B4-BE49-F238E27FC236}">
                <a16:creationId xmlns:a16="http://schemas.microsoft.com/office/drawing/2014/main" id="{826C76F3-BE0A-44FC-B358-DD18AAE6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6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输出公共物理量</a:t>
            </a:r>
          </a:p>
        </p:txBody>
      </p:sp>
      <p:sp>
        <p:nvSpPr>
          <p:cNvPr id="12" name="global-head-formula">
            <a:extLst xmlns:a="http://schemas.openxmlformats.org/drawingml/2006/main">
              <a:ext uri="{FF2B5EF4-FFF2-40B4-BE49-F238E27FC236}">
                <a16:creationId xmlns:a16="http://schemas.microsoft.com/office/drawing/2014/main" id="{6D1F0501-7706-4526-943D-DC08076B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3170873"/>
            <a:ext cx="516064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13" name="global-head-formula-0">
            <a:extLst xmlns:a="http://schemas.openxmlformats.org/drawingml/2006/main">
              <a:ext uri="{FF2B5EF4-FFF2-40B4-BE49-F238E27FC236}">
                <a16:creationId xmlns:a16="http://schemas.microsoft.com/office/drawing/2014/main" id="{994A8E5F-42E0-4BC0-906F-32CE8044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185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tau0:    [B]</a:t>
            </a:r>
          </a:p>
        </p:txBody>
      </p:sp>
      <p:sp>
        <p:nvSpPr>
          <p:cNvPr id="14" name="global-head-formula-1">
            <a:extLst xmlns:a="http://schemas.openxmlformats.org/drawingml/2006/main">
              <a:ext uri="{FF2B5EF4-FFF2-40B4-BE49-F238E27FC236}">
                <a16:creationId xmlns:a16="http://schemas.microsoft.com/office/drawing/2014/main" id="{78CAAEA3-7EB1-4939-BA25-4279329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cfo:     [B]</a:t>
            </a:r>
          </a:p>
        </p:txBody>
      </p:sp>
      <p:sp>
        <p:nvSpPr>
          <p:cNvPr id="15" name="global-head-formula-2">
            <a:extLst xmlns:a="http://schemas.openxmlformats.org/drawingml/2006/main">
              <a:ext uri="{FF2B5EF4-FFF2-40B4-BE49-F238E27FC236}">
                <a16:creationId xmlns:a16="http://schemas.microsoft.com/office/drawing/2014/main" id="{2673DD56-6BC0-4A34-B3FE-F4D404A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epsilon: [B,Nr]</a:t>
            </a:r>
          </a:p>
        </p:txBody>
      </p:sp>
      <p:sp>
        <p:nvSpPr>
          <p:cNvPr id="16" name="global-head-note">
            <a:extLst xmlns:a="http://schemas.openxmlformats.org/drawingml/2006/main">
              <a:ext uri="{FF2B5EF4-FFF2-40B4-BE49-F238E27FC236}">
                <a16:creationId xmlns:a16="http://schemas.microsoft.com/office/drawing/2014/main" id="{6363982E-3D09-4F04-8096-F0943E1E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7250"/>
            <a:ext cx="516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3657A"/>
                </a:solidFill>
              </a:defRPr>
            </a:pPr>
            <a:r>
              <a:rPr sz="1575">
                <a:solidFill>
                  <a:srgbClr val="53657A"/>
                </a:solidFill>
              </a:rPr>
              <a:t>v1 规范：tau0 固定 common_delay；epsilon[:,0] = 0，只学习相对接收天线采样偏移。</a:t>
            </a:r>
          </a:p>
        </p:txBody>
      </p:sp>
      <p:sp>
        <p:nvSpPr>
          <p:cNvPr id="17" name="path-head">
            <a:extLst xmlns:a="http://schemas.openxmlformats.org/drawingml/2006/main">
              <a:ext uri="{FF2B5EF4-FFF2-40B4-BE49-F238E27FC236}">
                <a16:creationId xmlns:a16="http://schemas.microsoft.com/office/drawing/2014/main" id="{B51EA7E4-1579-437A-A6CD-02376B8C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1955" y="1932623"/>
            <a:ext cx="5694045" cy="7354253"/>
          </a:xfrm>
          <a:prstGeom xmlns:a="http://schemas.openxmlformats.org/drawingml/2006/main" prst="roundRect">
            <a:avLst>
              <a:gd name="adj" fmla="val 13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8" name="chip-Effective-path head">
            <a:extLst xmlns:a="http://schemas.openxmlformats.org/drawingml/2006/main">
              <a:ext uri="{FF2B5EF4-FFF2-40B4-BE49-F238E27FC236}">
                <a16:creationId xmlns:a16="http://schemas.microsoft.com/office/drawing/2014/main" id="{B3F25196-F539-47CB-ABF7-943E1811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8655" y="2180273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3FF"/>
          </a:solidFill>
          <a:ln xmlns:a="http://schemas.openxmlformats.org/drawingml/2006/main" w="9525">
            <a:solidFill>
              <a:srgbClr val="6B55C8"/>
            </a:solidFill>
            <a:prstDash val="solid"/>
          </a:ln>
        </p:spPr>
      </p:sp>
      <p:sp>
        <p:nvSpPr>
          <p:cNvPr id="19" name="chip-text-Effective-path head">
            <a:extLst xmlns:a="http://schemas.openxmlformats.org/drawingml/2006/main">
              <a:ext uri="{FF2B5EF4-FFF2-40B4-BE49-F238E27FC236}">
                <a16:creationId xmlns:a16="http://schemas.microsoft.com/office/drawing/2014/main" id="{C8192246-5E82-4AAB-86BF-83E2D4E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286000"/>
            <a:ext cx="2171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B55C8"/>
                </a:solidFill>
              </a:defRPr>
            </a:pPr>
            <a:r>
              <a:rPr sz="1125" b="1">
                <a:solidFill>
                  <a:srgbClr val="6B55C8"/>
                </a:solidFill>
              </a:rPr>
              <a:t>Effective-path head</a:t>
            </a:r>
          </a:p>
        </p:txBody>
      </p:sp>
      <p:sp>
        <p:nvSpPr>
          <p:cNvPr id="20" name="path-head-title">
            <a:extLst xmlns:a="http://schemas.openxmlformats.org/drawingml/2006/main">
              <a:ext uri="{FF2B5EF4-FFF2-40B4-BE49-F238E27FC236}">
                <a16:creationId xmlns:a16="http://schemas.microsoft.com/office/drawing/2014/main" id="{A3C01AF6-CAEA-4F71-8BD6-5609D539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705100"/>
            <a:ext cx="516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033"/>
                </a:solidFill>
              </a:defRPr>
            </a:pPr>
            <a:r>
              <a:rPr sz="2250" b="1">
                <a:solidFill>
                  <a:srgbClr val="102033"/>
                </a:solidFill>
              </a:rPr>
              <a:t>输出 delay-Doppler 原子</a:t>
            </a:r>
          </a:p>
        </p:txBody>
      </p:sp>
      <p:sp>
        <p:nvSpPr>
          <p:cNvPr id="21" name="path-head-formula">
            <a:extLst xmlns:a="http://schemas.openxmlformats.org/drawingml/2006/main">
              <a:ext uri="{FF2B5EF4-FFF2-40B4-BE49-F238E27FC236}">
                <a16:creationId xmlns:a16="http://schemas.microsoft.com/office/drawing/2014/main" id="{ECC09513-5CB6-4CB0-B86F-C5E29B22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8655" y="3170873"/>
            <a:ext cx="516064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0">
            <a:solidFill>
              <a:srgbClr val="E8E3FF"/>
            </a:solidFill>
            <a:prstDash val="solid"/>
          </a:ln>
        </p:spPr>
      </p:sp>
      <p:sp>
        <p:nvSpPr>
          <p:cNvPr id="22" name="path-head-formula-0">
            <a:extLst xmlns:a="http://schemas.openxmlformats.org/drawingml/2006/main">
              <a:ext uri="{FF2B5EF4-FFF2-40B4-BE49-F238E27FC236}">
                <a16:creationId xmlns:a16="http://schemas.microsoft.com/office/drawing/2014/main" id="{45A01EE5-B308-4313-820B-E924B6B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7185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alpha: [B,Leff]</a:t>
            </a:r>
          </a:p>
        </p:txBody>
      </p:sp>
      <p:sp>
        <p:nvSpPr>
          <p:cNvPr id="23" name="path-head-formula-1">
            <a:extLst xmlns:a="http://schemas.openxmlformats.org/drawingml/2006/main">
              <a:ext uri="{FF2B5EF4-FFF2-40B4-BE49-F238E27FC236}">
                <a16:creationId xmlns:a16="http://schemas.microsoft.com/office/drawing/2014/main" id="{52477D72-923E-4684-9B39-1AEE10C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71475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d:     [B,Leff]</a:t>
            </a:r>
          </a:p>
        </p:txBody>
      </p:sp>
      <p:sp>
        <p:nvSpPr>
          <p:cNvPr id="24" name="path-head-formula-2">
            <a:extLst xmlns:a="http://schemas.openxmlformats.org/drawingml/2006/main">
              <a:ext uri="{FF2B5EF4-FFF2-40B4-BE49-F238E27FC236}">
                <a16:creationId xmlns:a16="http://schemas.microsoft.com/office/drawing/2014/main" id="{5C617513-8F5B-4093-A91A-6059E1F9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038600"/>
            <a:ext cx="4667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nu:    [B,Leff]</a:t>
            </a:r>
          </a:p>
        </p:txBody>
      </p:sp>
      <p:sp>
        <p:nvSpPr>
          <p:cNvPr id="25" name="path-head-note">
            <a:extLst xmlns:a="http://schemas.openxmlformats.org/drawingml/2006/main">
              <a:ext uri="{FF2B5EF4-FFF2-40B4-BE49-F238E27FC236}">
                <a16:creationId xmlns:a16="http://schemas.microsoft.com/office/drawing/2014/main" id="{BA79ADCA-F96F-4C86-87F6-AE93431B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67250"/>
            <a:ext cx="51625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>
                <a:solidFill>
                  <a:srgbClr val="53657A"/>
                </a:solidFill>
              </a:defRPr>
            </a:pPr>
            <a:r>
              <a:rPr sz="1575">
                <a:solidFill>
                  <a:srgbClr val="53657A"/>
                </a:solidFill>
              </a:rPr>
              <a:t>v1 规范：alpha 是 path gate；nu 做加权中心化，避免和 CFO 发生加法歧义。</a:t>
            </a:r>
          </a:p>
        </p:txBody>
      </p:sp>
      <p:sp>
        <p:nvSpPr>
          <p:cNvPr id="2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FF3AB45-65FF-4FF0-9B53-6251755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63100"/>
            <a:ext cx="163639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890A8"/>
                </a:solidFill>
              </a:defRPr>
            </a:pPr>
            <a:r>
              <a:rPr sz="900">
                <a:solidFill>
                  <a:srgbClr val="7890A8"/>
                </a:solidFill>
              </a:rPr>
              <a:t>EPGT-v1 architecture | physics-guided Transformer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ECC78E-A8F6-46DA-B582-284CE348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0" y="9563100"/>
            <a:ext cx="4000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890A8"/>
                </a:solidFill>
              </a:defRPr>
            </a:pPr>
            <a:r>
              <a:rPr sz="975">
                <a:solidFill>
                  <a:srgbClr val="7890A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6792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-bg">
            <a:extLst xmlns:a="http://schemas.openxmlformats.org/drawingml/2006/main">
              <a:ext uri="{FF2B5EF4-FFF2-40B4-BE49-F238E27FC236}">
                <a16:creationId xmlns:a16="http://schemas.microsoft.com/office/drawing/2014/main" id="{42A2D336-8A15-4029-9033-A3AE8F0D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B8867B-601C-47EF-8052-6242C6DC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6840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033"/>
                </a:solidFill>
              </a:defRPr>
            </a:pPr>
            <a:r>
              <a:rPr sz="3450" b="1">
                <a:solidFill>
                  <a:srgbClr val="102033"/>
                </a:solidFill>
              </a:rPr>
              <a:t>核心：Gamma(q,i) 把 delay-Doppler 相干性注入 cross-attention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C330DE-60AF-4527-9D2D-56A5B1F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848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53657A"/>
                </a:solidFill>
              </a:defRPr>
            </a:pPr>
            <a:r>
              <a:rPr sz="1725">
                <a:solidFill>
                  <a:srgbClr val="53657A"/>
                </a:solidFill>
              </a:rPr>
              <a:t>对每个待估位置 q，EPGT 会判断哪些观测点 i 在当前 effective-path 结构下更相干。</a:t>
            </a:r>
          </a:p>
        </p:txBody>
      </p:sp>
      <p:sp>
        <p:nvSpPr>
          <p:cNvPr id="4" name="gamma-kernel">
            <a:extLst xmlns:a="http://schemas.openxmlformats.org/drawingml/2006/main">
              <a:ext uri="{FF2B5EF4-FFF2-40B4-BE49-F238E27FC236}">
                <a16:creationId xmlns:a16="http://schemas.microsoft.com/office/drawing/2014/main" id="{7B3951AB-39CE-49DD-817E-E137F6F7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6423"/>
            <a:ext cx="8535353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0F2437"/>
          </a:solidFill>
          <a:ln xmlns:a="http://schemas.openxmlformats.org/drawingml/2006/main" w="0">
            <a:solidFill>
              <a:srgbClr val="0F2437"/>
            </a:solidFill>
            <a:prstDash val="solid"/>
          </a:ln>
        </p:spPr>
      </p:sp>
      <p:sp>
        <p:nvSpPr>
          <p:cNvPr id="5" name="gamma-kernel-0">
            <a:extLst xmlns:a="http://schemas.openxmlformats.org/drawingml/2006/main">
              <a:ext uri="{FF2B5EF4-FFF2-40B4-BE49-F238E27FC236}">
                <a16:creationId xmlns:a16="http://schemas.microsoft.com/office/drawing/2014/main" id="{8385963E-6421-4308-B363-673727E1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K(q,i) = | sum_l alpha_l</a:t>
            </a:r>
          </a:p>
        </p:txBody>
      </p:sp>
      <p:sp>
        <p:nvSpPr>
          <p:cNvPr id="6" name="gamma-kernel-1">
            <a:extLst xmlns:a="http://schemas.openxmlformats.org/drawingml/2006/main">
              <a:ext uri="{FF2B5EF4-FFF2-40B4-BE49-F238E27FC236}">
                <a16:creationId xmlns:a16="http://schemas.microsoft.com/office/drawing/2014/main" id="{89DABA40-FD2F-46D9-AD8C-8CE4BA36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    exp(j 2pi nu_l Delta_t_qi)</a:t>
            </a:r>
          </a:p>
        </p:txBody>
      </p:sp>
      <p:sp>
        <p:nvSpPr>
          <p:cNvPr id="7" name="gamma-kernel-2">
            <a:extLst xmlns:a="http://schemas.openxmlformats.org/drawingml/2006/main">
              <a:ext uri="{FF2B5EF4-FFF2-40B4-BE49-F238E27FC236}">
                <a16:creationId xmlns:a16="http://schemas.microsoft.com/office/drawing/2014/main" id="{EF40A5D6-5E2F-46C0-B703-737686EA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    exp(-j 2pi d_l Delta_f_qi) |</a:t>
            </a:r>
          </a:p>
        </p:txBody>
      </p:sp>
      <p:sp>
        <p:nvSpPr>
          <p:cNvPr id="8" name="gamma-kernel-3">
            <a:extLst xmlns:a="http://schemas.openxmlformats.org/drawingml/2006/main">
              <a:ext uri="{FF2B5EF4-FFF2-40B4-BE49-F238E27FC236}">
                <a16:creationId xmlns:a16="http://schemas.microsoft.com/office/drawing/2014/main" id="{45DB4950-BFB4-4C31-816B-92844A25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gamma-kernel-4">
            <a:extLst xmlns:a="http://schemas.openxmlformats.org/drawingml/2006/main">
              <a:ext uri="{FF2B5EF4-FFF2-40B4-BE49-F238E27FC236}">
                <a16:creationId xmlns:a16="http://schemas.microsoft.com/office/drawing/2014/main" id="{D7F85124-A10E-4522-B39F-38C058E5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Gamma(q,i) = lambda * log(eps + K(q,i))</a:t>
            </a:r>
          </a:p>
        </p:txBody>
      </p:sp>
      <p:sp>
        <p:nvSpPr>
          <p:cNvPr id="10" name="gamma-score">
            <a:extLst xmlns:a="http://schemas.openxmlformats.org/drawingml/2006/main">
              <a:ext uri="{FF2B5EF4-FFF2-40B4-BE49-F238E27FC236}">
                <a16:creationId xmlns:a16="http://schemas.microsoft.com/office/drawing/2014/main" id="{88857229-76F8-4825-99D2-C0669352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0973"/>
            <a:ext cx="853535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11" name="gamma-score-0">
            <a:extLst xmlns:a="http://schemas.openxmlformats.org/drawingml/2006/main">
              <a:ext uri="{FF2B5EF4-FFF2-40B4-BE49-F238E27FC236}">
                <a16:creationId xmlns:a16="http://schemas.microsoft.com/office/drawing/2014/main" id="{57CEE6D8-13CD-438A-A35C-22F0CA48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score(q,i) = Q_q K_i^T / sqrt(d) + Gamma(q,i)</a:t>
            </a:r>
          </a:p>
        </p:txBody>
      </p:sp>
      <p:sp>
        <p:nvSpPr>
          <p:cNvPr id="12" name="gamma-score-1">
            <a:extLst xmlns:a="http://schemas.openxmlformats.org/drawingml/2006/main">
              <a:ext uri="{FF2B5EF4-FFF2-40B4-BE49-F238E27FC236}">
                <a16:creationId xmlns:a16="http://schemas.microsoft.com/office/drawing/2014/main" id="{FF933149-6A00-499D-B248-BEC11BF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8039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2033"/>
                </a:solidFill>
              </a:defRPr>
            </a:pPr>
            <a:r>
              <a:rPr sz="1725">
                <a:solidFill>
                  <a:srgbClr val="102033"/>
                </a:solidFill>
              </a:rPr>
              <a:t>Attn(q,obs) = softmax(score) V_obs</a:t>
            </a:r>
          </a:p>
        </p:txBody>
      </p:sp>
      <p:sp>
        <p:nvSpPr>
          <p:cNvPr id="13" name="chip-q = (nq,kq)">
            <a:extLst xmlns:a="http://schemas.openxmlformats.org/drawingml/2006/main">
              <a:ext uri="{FF2B5EF4-FFF2-40B4-BE49-F238E27FC236}">
                <a16:creationId xmlns:a16="http://schemas.microsoft.com/office/drawing/2014/main" id="{F5162616-3FF8-4716-B022-3CBF0DCD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953" y="18478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8FF"/>
          </a:solidFill>
          <a:ln xmlns:a="http://schemas.openxmlformats.org/drawingml/2006/main" w="9525">
            <a:solidFill>
              <a:srgbClr val="2A6FDB"/>
            </a:solidFill>
            <a:prstDash val="solid"/>
          </a:ln>
        </p:spPr>
      </p:sp>
      <p:sp>
        <p:nvSpPr>
          <p:cNvPr id="14" name="chip-text-q = (nq,kq)">
            <a:extLst xmlns:a="http://schemas.openxmlformats.org/drawingml/2006/main">
              <a:ext uri="{FF2B5EF4-FFF2-40B4-BE49-F238E27FC236}">
                <a16:creationId xmlns:a16="http://schemas.microsoft.com/office/drawing/2014/main" id="{E6390F98-BC68-4F30-9C3C-83D440F9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1600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A6FDB"/>
                </a:solidFill>
              </a:defRPr>
            </a:pPr>
            <a:r>
              <a:rPr sz="1125" b="1">
                <a:solidFill>
                  <a:srgbClr val="2A6FDB"/>
                </a:solidFill>
              </a:rPr>
              <a:t>q = (nq,kq)</a:t>
            </a:r>
          </a:p>
        </p:txBody>
      </p:sp>
      <p:sp>
        <p:nvSpPr>
          <p:cNvPr id="15" name="arrow-↔">
            <a:extLst xmlns:a="http://schemas.openxmlformats.org/drawingml/2006/main">
              <a:ext uri="{FF2B5EF4-FFF2-40B4-BE49-F238E27FC236}">
                <a16:creationId xmlns:a16="http://schemas.microsoft.com/office/drawing/2014/main" id="{9AE0D043-022D-475C-87BC-D02A5604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86690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↔</a:t>
            </a:r>
          </a:p>
        </p:txBody>
      </p:sp>
      <p:sp>
        <p:nvSpPr>
          <p:cNvPr id="16" name="chip-i = (ni,ki)">
            <a:extLst xmlns:a="http://schemas.openxmlformats.org/drawingml/2006/main">
              <a:ext uri="{FF2B5EF4-FFF2-40B4-BE49-F238E27FC236}">
                <a16:creationId xmlns:a16="http://schemas.microsoft.com/office/drawing/2014/main" id="{8C17D95D-13F4-4AFA-A54B-FA11515C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9603" y="1847850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7D2"/>
          </a:solidFill>
          <a:ln xmlns:a="http://schemas.openxmlformats.org/drawingml/2006/main" w="9525">
            <a:solidFill>
              <a:srgbClr val="D87922"/>
            </a:solidFill>
            <a:prstDash val="solid"/>
          </a:ln>
        </p:spPr>
      </p:sp>
      <p:sp>
        <p:nvSpPr>
          <p:cNvPr id="17" name="chip-text-i = (ni,ki)">
            <a:extLst xmlns:a="http://schemas.openxmlformats.org/drawingml/2006/main">
              <a:ext uri="{FF2B5EF4-FFF2-40B4-BE49-F238E27FC236}">
                <a16:creationId xmlns:a16="http://schemas.microsoft.com/office/drawing/2014/main" id="{A61AAC5A-DBA4-4213-8C87-BF0AD6B6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962150"/>
            <a:ext cx="1600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7922"/>
                </a:solidFill>
              </a:defRPr>
            </a:pPr>
            <a:r>
              <a:rPr sz="1125" b="1">
                <a:solidFill>
                  <a:srgbClr val="D87922"/>
                </a:solidFill>
              </a:rPr>
              <a:t>i = (ni,ki)</a:t>
            </a:r>
          </a:p>
        </p:txBody>
      </p:sp>
      <p:sp>
        <p:nvSpPr>
          <p:cNvPr id="18" name="delta-box">
            <a:extLst xmlns:a="http://schemas.openxmlformats.org/drawingml/2006/main">
              <a:ext uri="{FF2B5EF4-FFF2-40B4-BE49-F238E27FC236}">
                <a16:creationId xmlns:a16="http://schemas.microsoft.com/office/drawing/2014/main" id="{A7437286-9D42-4C58-8207-B613C172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953" y="2370773"/>
            <a:ext cx="8038148" cy="1167003"/>
          </a:xfrm>
          <a:prstGeom xmlns:a="http://schemas.openxmlformats.org/drawingml/2006/main" prst="roundRect">
            <a:avLst>
              <a:gd name="adj" fmla="val 65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9" name="delta-box-title">
            <a:extLst xmlns:a="http://schemas.openxmlformats.org/drawingml/2006/main">
              <a:ext uri="{FF2B5EF4-FFF2-40B4-BE49-F238E27FC236}">
                <a16:creationId xmlns:a16="http://schemas.microsoft.com/office/drawing/2014/main" id="{06FBDD31-4065-4781-9E8B-00F1204D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3365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87922"/>
                </a:solidFill>
              </a:defRPr>
            </a:pPr>
            <a:r>
              <a:rPr sz="1725" b="1">
                <a:solidFill>
                  <a:srgbClr val="D87922"/>
                </a:solidFill>
              </a:rPr>
              <a:t>相对时频差</a:t>
            </a:r>
          </a:p>
        </p:txBody>
      </p:sp>
      <p:sp>
        <p:nvSpPr>
          <p:cNvPr id="20" name="delta-box-line-0">
            <a:extLst xmlns:a="http://schemas.openxmlformats.org/drawingml/2006/main">
              <a:ext uri="{FF2B5EF4-FFF2-40B4-BE49-F238E27FC236}">
                <a16:creationId xmlns:a16="http://schemas.microsoft.com/office/drawing/2014/main" id="{52BF4F90-EE26-47A8-B7CA-B32EBF10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3845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53657A"/>
                </a:solidFill>
              </a:defRPr>
            </a:pPr>
            <a:r>
              <a:rPr sz="1650">
                <a:solidFill>
                  <a:srgbClr val="53657A"/>
                </a:solidFill>
              </a:rPr>
              <a:t>Delta_t_qi = t_nq - t_ni</a:t>
            </a:r>
          </a:p>
        </p:txBody>
      </p:sp>
      <p:sp>
        <p:nvSpPr>
          <p:cNvPr id="21" name="delta-box-line-1">
            <a:extLst xmlns:a="http://schemas.openxmlformats.org/drawingml/2006/main">
              <a:ext uri="{FF2B5EF4-FFF2-40B4-BE49-F238E27FC236}">
                <a16:creationId xmlns:a16="http://schemas.microsoft.com/office/drawing/2014/main" id="{F3C8C0B7-FFBD-4712-8D42-6923F3D0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4325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53657A"/>
                </a:solidFill>
              </a:defRPr>
            </a:pPr>
            <a:r>
              <a:rPr sz="1650">
                <a:solidFill>
                  <a:srgbClr val="53657A"/>
                </a:solidFill>
              </a:rPr>
              <a:t>Delta_f_qi = f_kq - f_ki</a:t>
            </a:r>
          </a:p>
        </p:txBody>
      </p:sp>
      <p:sp>
        <p:nvSpPr>
          <p:cNvPr id="22" name="gamma-shapes">
            <a:extLst xmlns:a="http://schemas.openxmlformats.org/drawingml/2006/main">
              <a:ext uri="{FF2B5EF4-FFF2-40B4-BE49-F238E27FC236}">
                <a16:creationId xmlns:a16="http://schemas.microsoft.com/office/drawing/2014/main" id="{41CD1ACC-BF0A-4A88-A682-7174F7D3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953" y="3690176"/>
            <a:ext cx="8038148" cy="1772031"/>
          </a:xfrm>
          <a:prstGeom xmlns:a="http://schemas.openxmlformats.org/drawingml/2006/main" prst="roundRect">
            <a:avLst>
              <a:gd name="adj" fmla="val 43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3" name="gamma-shapes-title">
            <a:extLst xmlns:a="http://schemas.openxmlformats.org/drawingml/2006/main">
              <a:ext uri="{FF2B5EF4-FFF2-40B4-BE49-F238E27FC236}">
                <a16:creationId xmlns:a16="http://schemas.microsoft.com/office/drawing/2014/main" id="{D0143694-3BB7-4657-B8B4-E1272617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6715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9A9C"/>
                </a:solidFill>
              </a:defRPr>
            </a:pPr>
            <a:r>
              <a:rPr sz="1725" b="1">
                <a:solidFill>
                  <a:srgbClr val="159A9C"/>
                </a:solidFill>
              </a:rPr>
              <a:t>关键张量维度</a:t>
            </a:r>
          </a:p>
        </p:txBody>
      </p:sp>
      <p:sp>
        <p:nvSpPr>
          <p:cNvPr id="24" name="gamma-shapes-line-0">
            <a:extLst xmlns:a="http://schemas.openxmlformats.org/drawingml/2006/main">
              <a:ext uri="{FF2B5EF4-FFF2-40B4-BE49-F238E27FC236}">
                <a16:creationId xmlns:a16="http://schemas.microsoft.com/office/drawing/2014/main" id="{33B1F938-3E68-4424-8879-A3DBD0CC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5290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53657A"/>
                </a:solidFill>
              </a:defRPr>
            </a:pPr>
            <a:r>
              <a:rPr sz="1650">
                <a:solidFill>
                  <a:srgbClr val="53657A"/>
                </a:solidFill>
              </a:rPr>
              <a:t>C_q:     [Q,2],   Q = N*K</a:t>
            </a:r>
          </a:p>
        </p:txBody>
      </p:sp>
      <p:sp>
        <p:nvSpPr>
          <p:cNvPr id="25" name="gamma-shapes-line-1">
            <a:extLst xmlns:a="http://schemas.openxmlformats.org/drawingml/2006/main">
              <a:ext uri="{FF2B5EF4-FFF2-40B4-BE49-F238E27FC236}">
                <a16:creationId xmlns:a16="http://schemas.microsoft.com/office/drawing/2014/main" id="{9AA16C22-9100-46D6-9C77-C6327FCC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5770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53657A"/>
                </a:solidFill>
              </a:defRPr>
            </a:pPr>
            <a:r>
              <a:rPr sz="1650">
                <a:solidFill>
                  <a:srgbClr val="53657A"/>
                </a:solidFill>
              </a:rPr>
              <a:t>C_obs:   [B,M,2]</a:t>
            </a:r>
          </a:p>
        </p:txBody>
      </p:sp>
      <p:sp>
        <p:nvSpPr>
          <p:cNvPr id="26" name="gamma-shapes-line-2">
            <a:extLst xmlns:a="http://schemas.openxmlformats.org/drawingml/2006/main">
              <a:ext uri="{FF2B5EF4-FFF2-40B4-BE49-F238E27FC236}">
                <a16:creationId xmlns:a16="http://schemas.microsoft.com/office/drawing/2014/main" id="{50342EF7-75E4-46BA-9D66-C1901E2A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6250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53657A"/>
                </a:solidFill>
              </a:defRPr>
            </a:pPr>
            <a:r>
              <a:rPr sz="1650">
                <a:solidFill>
                  <a:srgbClr val="53657A"/>
                </a:solidFill>
              </a:rPr>
              <a:t>alpha,d,nu: [B,Leff]</a:t>
            </a:r>
          </a:p>
        </p:txBody>
      </p:sp>
      <p:sp>
        <p:nvSpPr>
          <p:cNvPr id="27" name="gamma-shapes-line-3">
            <a:extLst xmlns:a="http://schemas.openxmlformats.org/drawingml/2006/main">
              <a:ext uri="{FF2B5EF4-FFF2-40B4-BE49-F238E27FC236}">
                <a16:creationId xmlns:a16="http://schemas.microsoft.com/office/drawing/2014/main" id="{86A56164-ACE6-4EFE-BA41-424621E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6730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>
                <a:solidFill>
                  <a:srgbClr val="53657A"/>
                </a:solidFill>
              </a:defRPr>
            </a:pPr>
            <a:r>
              <a:rPr sz="1650">
                <a:solidFill>
                  <a:srgbClr val="53657A"/>
                </a:solidFill>
              </a:rPr>
              <a:t>Gamma:   [B,Q,M]</a:t>
            </a:r>
          </a:p>
        </p:txBody>
      </p:sp>
      <p:sp>
        <p:nvSpPr>
          <p:cNvPr id="28" name="gamma-meaning">
            <a:extLst xmlns:a="http://schemas.openxmlformats.org/drawingml/2006/main">
              <a:ext uri="{FF2B5EF4-FFF2-40B4-BE49-F238E27FC236}">
                <a16:creationId xmlns:a16="http://schemas.microsoft.com/office/drawing/2014/main" id="{E124129E-10E3-42D1-992D-07D03DB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953" y="5614607"/>
            <a:ext cx="8038148" cy="920496"/>
          </a:xfrm>
          <a:prstGeom xmlns:a="http://schemas.openxmlformats.org/drawingml/2006/main" prst="roundRect">
            <a:avLst>
              <a:gd name="adj" fmla="val 8278"/>
            </a:avLst>
          </a:prstGeom>
          <a:solidFill xmlns:a="http://schemas.openxmlformats.org/drawingml/2006/main">
            <a:srgbClr val="D9F2F2"/>
          </a:solidFill>
          <a:ln xmlns:a="http://schemas.openxmlformats.org/drawingml/2006/main" w="11430">
            <a:solidFill>
              <a:srgbClr val="BBDDDD"/>
            </a:solidFill>
            <a:prstDash val="solid"/>
          </a:ln>
        </p:spPr>
      </p:sp>
      <p:sp>
        <p:nvSpPr>
          <p:cNvPr id="29" name="gamma-meaning-text">
            <a:extLst xmlns:a="http://schemas.openxmlformats.org/drawingml/2006/main">
              <a:ext uri="{FF2B5EF4-FFF2-40B4-BE49-F238E27FC236}">
                <a16:creationId xmlns:a16="http://schemas.microsoft.com/office/drawing/2014/main" id="{61C30B3D-22B9-48F9-9CFC-BEB36A91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10250"/>
            <a:ext cx="7581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直观含义：如果观测点 i 和 query q 能由同一组 delay-Doppler path 解释，Gamma 就提高 q 对 i 的 attention logit。</a:t>
            </a:r>
          </a:p>
        </p:txBody>
      </p:sp>
      <p:sp>
        <p:nvSpPr>
          <p:cNvPr id="3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4DD37D-8798-497E-A7E0-7BAF71E4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16440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890A8"/>
                </a:solidFill>
              </a:defRPr>
            </a:pPr>
            <a:r>
              <a:rPr sz="900">
                <a:solidFill>
                  <a:srgbClr val="7890A8"/>
                </a:solidFill>
              </a:rPr>
              <a:t>EPGT-v1 architecture | physics-guided Transformer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81CBACF-4F36-4F47-8FE1-3244E13C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01200"/>
            <a:ext cx="4000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890A8"/>
                </a:solidFill>
              </a:defRPr>
            </a:pPr>
            <a:r>
              <a:rPr sz="975">
                <a:solidFill>
                  <a:srgbClr val="7890A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26873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root-bg">
            <a:extLst xmlns:a="http://schemas.openxmlformats.org/drawingml/2006/main">
              <a:ext uri="{FF2B5EF4-FFF2-40B4-BE49-F238E27FC236}">
                <a16:creationId xmlns:a16="http://schemas.microsoft.com/office/drawing/2014/main" id="{984FBD2F-65BB-4821-853E-DF3DC638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BA0B37-E154-4A2B-9679-0456BC5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6840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2033"/>
                </a:solidFill>
              </a:defRPr>
            </a:pPr>
            <a:r>
              <a:rPr sz="3450" b="1">
                <a:solidFill>
                  <a:srgbClr val="102033"/>
                </a:solidFill>
              </a:rPr>
              <a:t>后处理：用预测的非线性参数做 LS，再显式重构 H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24110F-3ED0-43F4-A028-506D4736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53657A"/>
                </a:solidFill>
              </a:defRPr>
            </a:pPr>
            <a:r>
              <a:rPr sz="1725">
                <a:solidFill>
                  <a:srgbClr val="53657A"/>
                </a:solidFill>
              </a:rPr>
              <a:t>EPGT 的输出不是黑盒 H，而是 nonlinear physical parameters + LS 求出的 path gains。</a:t>
            </a:r>
          </a:p>
        </p:txBody>
      </p:sp>
      <p:sp>
        <p:nvSpPr>
          <p:cNvPr id="4" name="r-param">
            <a:extLst xmlns:a="http://schemas.openxmlformats.org/drawingml/2006/main">
              <a:ext uri="{FF2B5EF4-FFF2-40B4-BE49-F238E27FC236}">
                <a16:creationId xmlns:a16="http://schemas.microsoft.com/office/drawing/2014/main" id="{A54F130D-AB04-41A2-AEBF-AB2DAF19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762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5" name="r-param-title">
            <a:extLst xmlns:a="http://schemas.openxmlformats.org/drawingml/2006/main">
              <a:ext uri="{FF2B5EF4-FFF2-40B4-BE49-F238E27FC236}">
                <a16:creationId xmlns:a16="http://schemas.microsoft.com/office/drawing/2014/main" id="{D31F7BD3-720F-4B39-8EC0-40E4CE7A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234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B55C8"/>
                </a:solidFill>
              </a:defRPr>
            </a:pPr>
            <a:r>
              <a:rPr sz="1725" b="1">
                <a:solidFill>
                  <a:srgbClr val="6B55C8"/>
                </a:solidFill>
              </a:rPr>
              <a:t>Predicted params</a:t>
            </a:r>
          </a:p>
        </p:txBody>
      </p:sp>
      <p:sp>
        <p:nvSpPr>
          <p:cNvPr id="6" name="r-param-line-0">
            <a:extLst xmlns:a="http://schemas.openxmlformats.org/drawingml/2006/main">
              <a:ext uri="{FF2B5EF4-FFF2-40B4-BE49-F238E27FC236}">
                <a16:creationId xmlns:a16="http://schemas.microsoft.com/office/drawing/2014/main" id="{A6B20C99-8A30-445A-854F-7158E8A7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2343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cfo, epsilon</a:t>
            </a:r>
          </a:p>
        </p:txBody>
      </p:sp>
      <p:sp>
        <p:nvSpPr>
          <p:cNvPr id="7" name="r-param-line-1">
            <a:extLst xmlns:a="http://schemas.openxmlformats.org/drawingml/2006/main">
              <a:ext uri="{FF2B5EF4-FFF2-40B4-BE49-F238E27FC236}">
                <a16:creationId xmlns:a16="http://schemas.microsoft.com/office/drawing/2014/main" id="{D6C0897A-DD7E-4708-B945-1DC20C77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343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alpha,d,nu</a:t>
            </a:r>
          </a:p>
        </p:txBody>
      </p:sp>
      <p:sp>
        <p:nvSpPr>
          <p:cNvPr id="8" name="arrow-→">
            <a:extLst xmlns:a="http://schemas.openxmlformats.org/drawingml/2006/main">
              <a:ext uri="{FF2B5EF4-FFF2-40B4-BE49-F238E27FC236}">
                <a16:creationId xmlns:a16="http://schemas.microsoft.com/office/drawing/2014/main" id="{318A5DAA-2687-4AFF-8290-276025B6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9" name="r-design">
            <a:extLst xmlns:a="http://schemas.openxmlformats.org/drawingml/2006/main">
              <a:ext uri="{FF2B5EF4-FFF2-40B4-BE49-F238E27FC236}">
                <a16:creationId xmlns:a16="http://schemas.microsoft.com/office/drawing/2014/main" id="{785E8769-9E8E-48CB-8658-6F242AEC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002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0" name="r-design-title">
            <a:extLst xmlns:a="http://schemas.openxmlformats.org/drawingml/2006/main">
              <a:ext uri="{FF2B5EF4-FFF2-40B4-BE49-F238E27FC236}">
                <a16:creationId xmlns:a16="http://schemas.microsoft.com/office/drawing/2014/main" id="{6CCB2D47-45E7-4FAE-A9A7-A3239B4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71650"/>
            <a:ext cx="300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87922"/>
                </a:solidFill>
              </a:defRPr>
            </a:pPr>
            <a:r>
              <a:rPr sz="1725" b="1">
                <a:solidFill>
                  <a:srgbClr val="D87922"/>
                </a:solidFill>
              </a:rPr>
              <a:t>Physics design matrix</a:t>
            </a:r>
          </a:p>
        </p:txBody>
      </p:sp>
      <p:sp>
        <p:nvSpPr>
          <p:cNvPr id="11" name="r-design-line-0">
            <a:extLst xmlns:a="http://schemas.openxmlformats.org/drawingml/2006/main">
              <a:ext uri="{FF2B5EF4-FFF2-40B4-BE49-F238E27FC236}">
                <a16:creationId xmlns:a16="http://schemas.microsoft.com/office/drawing/2014/main" id="{B190CEC5-AA95-4097-8303-220BDACE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3009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Phi(d,nu,cfo,epsilon)</a:t>
            </a:r>
          </a:p>
        </p:txBody>
      </p:sp>
      <p:sp>
        <p:nvSpPr>
          <p:cNvPr id="12" name="r-design-line-1">
            <a:extLst xmlns:a="http://schemas.openxmlformats.org/drawingml/2006/main">
              <a:ext uri="{FF2B5EF4-FFF2-40B4-BE49-F238E27FC236}">
                <a16:creationId xmlns:a16="http://schemas.microsoft.com/office/drawing/2014/main" id="{D29E95A7-FF88-4D56-843F-213B288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3009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from observed REs</a:t>
            </a:r>
          </a:p>
        </p:txBody>
      </p:sp>
      <p:sp>
        <p:nvSpPr>
          <p:cNvPr id="13" name="arrow-→">
            <a:extLst xmlns:a="http://schemas.openxmlformats.org/drawingml/2006/main">
              <a:ext uri="{FF2B5EF4-FFF2-40B4-BE49-F238E27FC236}">
                <a16:creationId xmlns:a16="http://schemas.microsoft.com/office/drawing/2014/main" id="{74A6C18D-EBB5-4AAF-896E-0352D83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14" name="r-ls">
            <a:extLst xmlns:a="http://schemas.openxmlformats.org/drawingml/2006/main">
              <a:ext uri="{FF2B5EF4-FFF2-40B4-BE49-F238E27FC236}">
                <a16:creationId xmlns:a16="http://schemas.microsoft.com/office/drawing/2014/main" id="{27DC45A3-6DD8-4CE8-9CD2-AAC1C018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33550"/>
            <a:ext cx="314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5" name="r-ls-title">
            <a:extLst xmlns:a="http://schemas.openxmlformats.org/drawingml/2006/main">
              <a:ext uri="{FF2B5EF4-FFF2-40B4-BE49-F238E27FC236}">
                <a16:creationId xmlns:a16="http://schemas.microsoft.com/office/drawing/2014/main" id="{5C0D04EE-48D0-4E81-944B-465CEF85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05000"/>
            <a:ext cx="2724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9D57"/>
                </a:solidFill>
              </a:defRPr>
            </a:pPr>
            <a:r>
              <a:rPr sz="1725" b="1">
                <a:solidFill>
                  <a:srgbClr val="2E9D57"/>
                </a:solidFill>
              </a:rPr>
              <a:t>Complex LS</a:t>
            </a:r>
          </a:p>
        </p:txBody>
      </p:sp>
      <p:sp>
        <p:nvSpPr>
          <p:cNvPr id="16" name="r-ls-line-0">
            <a:extLst xmlns:a="http://schemas.openxmlformats.org/drawingml/2006/main">
              <a:ext uri="{FF2B5EF4-FFF2-40B4-BE49-F238E27FC236}">
                <a16:creationId xmlns:a16="http://schemas.microsoft.com/office/drawing/2014/main" id="{A1AD14BD-93B2-4880-BD44-ABF2CC2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09800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G_hat: [B,Leff,Nr,Ns]</a:t>
            </a:r>
          </a:p>
        </p:txBody>
      </p:sp>
      <p:sp>
        <p:nvSpPr>
          <p:cNvPr id="17" name="arrow-→">
            <a:extLst xmlns:a="http://schemas.openxmlformats.org/drawingml/2006/main">
              <a:ext uri="{FF2B5EF4-FFF2-40B4-BE49-F238E27FC236}">
                <a16:creationId xmlns:a16="http://schemas.microsoft.com/office/drawing/2014/main" id="{89EE41B1-A327-42B8-AD81-5CC92D32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962150"/>
            <a:ext cx="495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890A8"/>
                </a:solidFill>
              </a:defRPr>
            </a:pPr>
            <a:r>
              <a:rPr sz="2550" b="1">
                <a:solidFill>
                  <a:srgbClr val="7890A8"/>
                </a:solidFill>
              </a:rPr>
              <a:t>→</a:t>
            </a:r>
          </a:p>
        </p:txBody>
      </p:sp>
      <p:sp>
        <p:nvSpPr>
          <p:cNvPr id="18" name="r-h">
            <a:extLst xmlns:a="http://schemas.openxmlformats.org/drawingml/2006/main">
              <a:ext uri="{FF2B5EF4-FFF2-40B4-BE49-F238E27FC236}">
                <a16:creationId xmlns:a16="http://schemas.microsoft.com/office/drawing/2014/main" id="{10D019B6-9492-48D9-81AD-C355CF8D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1733550"/>
            <a:ext cx="3714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19" name="r-h-title">
            <a:extLst xmlns:a="http://schemas.openxmlformats.org/drawingml/2006/main">
              <a:ext uri="{FF2B5EF4-FFF2-40B4-BE49-F238E27FC236}">
                <a16:creationId xmlns:a16="http://schemas.microsoft.com/office/drawing/2014/main" id="{51F7816D-0DD3-4EB6-AFEC-38C5FC1E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1905000"/>
            <a:ext cx="3295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44E52"/>
                </a:solidFill>
              </a:defRPr>
            </a:pPr>
            <a:r>
              <a:rPr sz="1725" b="1">
                <a:solidFill>
                  <a:srgbClr val="C44E52"/>
                </a:solidFill>
              </a:rPr>
              <a:t>Reconstruction</a:t>
            </a:r>
          </a:p>
        </p:txBody>
      </p:sp>
      <p:sp>
        <p:nvSpPr>
          <p:cNvPr id="20" name="r-h-line-0">
            <a:extLst xmlns:a="http://schemas.openxmlformats.org/drawingml/2006/main">
              <a:ext uri="{FF2B5EF4-FFF2-40B4-BE49-F238E27FC236}">
                <a16:creationId xmlns:a16="http://schemas.microsoft.com/office/drawing/2014/main" id="{254EF9E5-0DF0-4D71-9FAC-74844006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209800"/>
            <a:ext cx="3295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53657A"/>
                </a:solidFill>
              </a:defRPr>
            </a:pPr>
            <a:r>
              <a:rPr sz="1275">
                <a:solidFill>
                  <a:srgbClr val="53657A"/>
                </a:solidFill>
              </a:rPr>
              <a:t>H_hat: [B,Nr,Ns,N,K]</a:t>
            </a:r>
          </a:p>
        </p:txBody>
      </p:sp>
      <p:sp>
        <p:nvSpPr>
          <p:cNvPr id="21" name="h-formula">
            <a:extLst xmlns:a="http://schemas.openxmlformats.org/drawingml/2006/main">
              <a:ext uri="{FF2B5EF4-FFF2-40B4-BE49-F238E27FC236}">
                <a16:creationId xmlns:a16="http://schemas.microsoft.com/office/drawing/2014/main" id="{608EE730-A881-4900-8BB6-B1C08A06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7219"/>
            <a:ext cx="16840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2253A"/>
          </a:solidFill>
          <a:ln xmlns:a="http://schemas.openxmlformats.org/drawingml/2006/main" w="0">
            <a:solidFill>
              <a:srgbClr val="0F2437"/>
            </a:solidFill>
            <a:prstDash val="solid"/>
          </a:ln>
        </p:spPr>
      </p:sp>
      <p:sp>
        <p:nvSpPr>
          <p:cNvPr id="22" name="h-formula-0">
            <a:extLst xmlns:a="http://schemas.openxmlformats.org/drawingml/2006/main">
              <a:ext uri="{FF2B5EF4-FFF2-40B4-BE49-F238E27FC236}">
                <a16:creationId xmlns:a16="http://schemas.microsoft.com/office/drawing/2014/main" id="{F0E8C3E4-2BC2-49EE-8F36-65AAC573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634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H[r,t,n,k] = exp(-j2pi f_k(tau0 + epsilon_r)) * exp(j2pi cfo t_n)</a:t>
            </a:r>
          </a:p>
        </p:txBody>
      </p:sp>
      <p:sp>
        <p:nvSpPr>
          <p:cNvPr id="23" name="h-formula-1">
            <a:extLst xmlns:a="http://schemas.openxmlformats.org/drawingml/2006/main">
              <a:ext uri="{FF2B5EF4-FFF2-40B4-BE49-F238E27FC236}">
                <a16:creationId xmlns:a16="http://schemas.microsoft.com/office/drawing/2014/main" id="{169DA35A-0F7D-472E-A138-22EF06E9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634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           * sum_l G[l,r,t] exp(j2pi nu_l t_n) exp(-j2pi f_k d_l)</a:t>
            </a:r>
          </a:p>
        </p:txBody>
      </p:sp>
      <p:sp>
        <p:nvSpPr>
          <p:cNvPr id="24" name="baseline-panel">
            <a:extLst xmlns:a="http://schemas.openxmlformats.org/drawingml/2006/main">
              <a:ext uri="{FF2B5EF4-FFF2-40B4-BE49-F238E27FC236}">
                <a16:creationId xmlns:a16="http://schemas.microsoft.com/office/drawing/2014/main" id="{BE55F8A2-55F8-4CA1-9B44-32FA9556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9269"/>
            <a:ext cx="8286750" cy="5303806"/>
          </a:xfrm>
          <a:prstGeom xmlns:a="http://schemas.openxmlformats.org/drawingml/2006/main" prst="roundRect">
            <a:avLst>
              <a:gd name="adj" fmla="val 14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A"/>
            </a:solidFill>
            <a:prstDash val="solid"/>
          </a:ln>
        </p:spPr>
      </p:sp>
      <p:sp>
        <p:nvSpPr>
          <p:cNvPr id="25" name="chip-Baseline HybridTransformer">
            <a:extLst xmlns:a="http://schemas.openxmlformats.org/drawingml/2006/main">
              <a:ext uri="{FF2B5EF4-FFF2-40B4-BE49-F238E27FC236}">
                <a16:creationId xmlns:a16="http://schemas.microsoft.com/office/drawing/2014/main" id="{6EAB06DE-543E-4D10-9E4D-9280F45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7869"/>
            <a:ext cx="2857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7890A8"/>
            </a:solidFill>
            <a:prstDash val="solid"/>
          </a:ln>
        </p:spPr>
      </p:sp>
      <p:sp>
        <p:nvSpPr>
          <p:cNvPr id="26" name="chip-text-Baseline HybridTransformer">
            <a:extLst xmlns:a="http://schemas.openxmlformats.org/drawingml/2006/main">
              <a:ext uri="{FF2B5EF4-FFF2-40B4-BE49-F238E27FC236}">
                <a16:creationId xmlns:a16="http://schemas.microsoft.com/office/drawing/2014/main" id="{B0C61F41-1B48-40C8-8B20-62AC030B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2628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890A8"/>
                </a:solidFill>
              </a:defRPr>
            </a:pPr>
            <a:r>
              <a:rPr sz="1125" b="1">
                <a:solidFill>
                  <a:srgbClr val="7890A8"/>
                </a:solidFill>
              </a:rPr>
              <a:t>Baseline HybridTransformer</a:t>
            </a:r>
          </a:p>
        </p:txBody>
      </p:sp>
      <p:sp>
        <p:nvSpPr>
          <p:cNvPr id="27" name="baseline-flow">
            <a:extLst xmlns:a="http://schemas.openxmlformats.org/drawingml/2006/main">
              <a:ext uri="{FF2B5EF4-FFF2-40B4-BE49-F238E27FC236}">
                <a16:creationId xmlns:a16="http://schemas.microsoft.com/office/drawing/2014/main" id="{18DAA74D-FAF5-4CF4-8060-1742012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77533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observed-token self-attention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→ mean pooling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→ parameter head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→ LS reconstruction</a:t>
            </a:r>
          </a:p>
        </p:txBody>
      </p:sp>
      <p:sp>
        <p:nvSpPr>
          <p:cNvPr id="28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8626EC18-96F6-4164-AC73-DE1132C0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484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53657A"/>
                </a:solidFill>
              </a:defRPr>
            </a:pPr>
            <a:r>
              <a:rPr sz="1650">
                <a:solidFill>
                  <a:srgbClr val="53657A"/>
                </a:solidFill>
              </a:rPr>
              <a:t>没有 full-grid query，也没有由 delay-Doppler 结构产生的 attention bias。</a:t>
            </a:r>
          </a:p>
        </p:txBody>
      </p:sp>
      <p:sp>
        <p:nvSpPr>
          <p:cNvPr id="29" name="epgt-panel">
            <a:extLst xmlns:a="http://schemas.openxmlformats.org/drawingml/2006/main">
              <a:ext uri="{FF2B5EF4-FFF2-40B4-BE49-F238E27FC236}">
                <a16:creationId xmlns:a16="http://schemas.microsoft.com/office/drawing/2014/main" id="{E6C50B58-6949-4A11-9D31-B5C37BA1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59269"/>
            <a:ext cx="8286750" cy="5303806"/>
          </a:xfrm>
          <a:prstGeom xmlns:a="http://schemas.openxmlformats.org/drawingml/2006/main" prst="roundRect">
            <a:avLst>
              <a:gd name="adj" fmla="val 1437"/>
            </a:avLst>
          </a:prstGeom>
          <a:solidFill xmlns:a="http://schemas.openxmlformats.org/drawingml/2006/main">
            <a:srgbClr val="F7FFFE"/>
          </a:solidFill>
          <a:ln xmlns:a="http://schemas.openxmlformats.org/drawingml/2006/main" w="11430">
            <a:solidFill>
              <a:srgbClr val="BBDDDD"/>
            </a:solidFill>
            <a:prstDash val="solid"/>
          </a:ln>
        </p:spPr>
      </p:sp>
      <p:sp>
        <p:nvSpPr>
          <p:cNvPr id="30" name="chip-EPGT-v1">
            <a:extLst xmlns:a="http://schemas.openxmlformats.org/drawingml/2006/main">
              <a:ext uri="{FF2B5EF4-FFF2-40B4-BE49-F238E27FC236}">
                <a16:creationId xmlns:a16="http://schemas.microsoft.com/office/drawing/2014/main" id="{A968E413-3EF4-4B5B-84A5-82FAC417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87869"/>
            <a:ext cx="1524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2F2"/>
          </a:solidFill>
          <a:ln xmlns:a="http://schemas.openxmlformats.org/drawingml/2006/main" w="9525">
            <a:solidFill>
              <a:srgbClr val="159A9C"/>
            </a:solidFill>
            <a:prstDash val="solid"/>
          </a:ln>
        </p:spPr>
      </p:sp>
      <p:sp>
        <p:nvSpPr>
          <p:cNvPr id="31" name="chip-text-EPGT-v1">
            <a:extLst xmlns:a="http://schemas.openxmlformats.org/drawingml/2006/main">
              <a:ext uri="{FF2B5EF4-FFF2-40B4-BE49-F238E27FC236}">
                <a16:creationId xmlns:a16="http://schemas.microsoft.com/office/drawing/2014/main" id="{394C13DA-B56D-4D56-824B-0237419C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00550"/>
            <a:ext cx="1295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EPGT-v1</a:t>
            </a:r>
          </a:p>
        </p:txBody>
      </p:sp>
      <p:sp>
        <p:nvSpPr>
          <p:cNvPr id="32" name="epgt-flow">
            <a:extLst xmlns:a="http://schemas.openxmlformats.org/drawingml/2006/main">
              <a:ext uri="{FF2B5EF4-FFF2-40B4-BE49-F238E27FC236}">
                <a16:creationId xmlns:a16="http://schemas.microsoft.com/office/drawing/2014/main" id="{848A0322-0B0D-41B8-ACF6-879C383A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19650"/>
            <a:ext cx="77533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path/global heads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→ Gamma(q,i)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→ guided cross-attention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→ refined physical state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875">
                <a:solidFill>
                  <a:srgbClr val="102033"/>
                </a:solidFill>
              </a:defRPr>
            </a:pPr>
            <a:r>
              <a:rPr sz="1875">
                <a:solidFill>
                  <a:srgbClr val="102033"/>
                </a:solidFill>
              </a:rPr>
              <a:t>→ LS reconstruction</a:t>
            </a:r>
          </a:p>
        </p:txBody>
      </p:sp>
      <p:sp>
        <p:nvSpPr>
          <p:cNvPr id="33" name="epgt-note">
            <a:extLst xmlns:a="http://schemas.openxmlformats.org/drawingml/2006/main">
              <a:ext uri="{FF2B5EF4-FFF2-40B4-BE49-F238E27FC236}">
                <a16:creationId xmlns:a16="http://schemas.microsoft.com/office/drawing/2014/main" id="{2C3C935F-C11A-4297-BD9E-EC98BE0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72250"/>
            <a:ext cx="7753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650">
                <a:solidFill>
                  <a:srgbClr val="53657A"/>
                </a:solidFill>
              </a:defRPr>
            </a:pPr>
            <a:r>
              <a:rPr sz="1650">
                <a:solidFill>
                  <a:srgbClr val="53657A"/>
                </a:solidFill>
              </a:rPr>
              <a:t>性能提升来自更强的归纳偏置：query 不是平均读所有观测，而是优先读物理相干的观测。</a:t>
            </a:r>
          </a:p>
        </p:txBody>
      </p:sp>
      <p:sp>
        <p:nvSpPr>
          <p:cNvPr id="3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6880D1-F010-470C-81C0-C9E84994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164401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890A8"/>
                </a:solidFill>
              </a:defRPr>
            </a:pPr>
            <a:r>
              <a:rPr sz="900">
                <a:solidFill>
                  <a:srgbClr val="7890A8"/>
                </a:solidFill>
              </a:rPr>
              <a:t>EPGT-v1 architecture | physics-guided Transformer</a:t>
            </a:r>
          </a:p>
        </p:txBody>
      </p:sp>
      <p:sp>
        <p:nvSpPr>
          <p:cNvPr id="3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61E8D95-CB73-4AC3-BBE6-979F8BA2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4050" y="9601200"/>
            <a:ext cx="4000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890A8"/>
                </a:solidFill>
              </a:defRPr>
            </a:pPr>
            <a:r>
              <a:rPr sz="975">
                <a:solidFill>
                  <a:srgbClr val="7890A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4634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2026-05-01T17:21:55.2930000Z</dcterms:created>
  <dcterms:modified xsi:type="dcterms:W3CDTF">2026-05-01T17:21:55.2930000Z</dcterms:modified>
</coreProperties>
</file>